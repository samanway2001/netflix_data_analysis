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6" r:id="rId3"/>
    <p:sldId id="258" r:id="rId4"/>
    <p:sldId id="259" r:id="rId5"/>
    <p:sldId id="262" r:id="rId6"/>
    <p:sldId id="260" r:id="rId7"/>
    <p:sldId id="261" r:id="rId8"/>
    <p:sldId id="264" r:id="rId9"/>
    <p:sldId id="263" r:id="rId10"/>
    <p:sldId id="265" r:id="rId11"/>
    <p:sldId id="266" r:id="rId12"/>
    <p:sldId id="270" r:id="rId13"/>
    <p:sldId id="269" r:id="rId14"/>
    <p:sldId id="271" r:id="rId15"/>
    <p:sldId id="27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36" autoAdjust="0"/>
    <p:restoredTop sz="94660"/>
  </p:normalViewPr>
  <p:slideViewPr>
    <p:cSldViewPr snapToGrid="0">
      <p:cViewPr varScale="1">
        <p:scale>
          <a:sx n="85" d="100"/>
          <a:sy n="85" d="100"/>
        </p:scale>
        <p:origin x="2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42D506-60D7-4825-80A0-C793FD8AB1B6}" type="datetimeFigureOut">
              <a:rPr lang="en-IN" smtClean="0"/>
              <a:t>30-08-2026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46F0D7-7012-4EAA-AA0E-454A7202BD95}" type="slidenum">
              <a:rPr lang="en-IN" smtClean="0"/>
              <a:t>‹#›</a:t>
            </a:fld>
            <a:endParaRPr lang="en-IN"/>
          </a:p>
        </p:txBody>
      </p:sp>
    </p:spTree>
    <p:extLst>
      <p:ext uri="{BB962C8B-B14F-4D97-AF65-F5344CB8AC3E}">
        <p14:creationId xmlns:p14="http://schemas.microsoft.com/office/powerpoint/2010/main" val="30639011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246F0D7-7012-4EAA-AA0E-454A7202BD95}" type="slidenum">
              <a:rPr lang="en-IN" smtClean="0"/>
              <a:t>1</a:t>
            </a:fld>
            <a:endParaRPr lang="en-IN"/>
          </a:p>
        </p:txBody>
      </p:sp>
    </p:spTree>
    <p:extLst>
      <p:ext uri="{BB962C8B-B14F-4D97-AF65-F5344CB8AC3E}">
        <p14:creationId xmlns:p14="http://schemas.microsoft.com/office/powerpoint/2010/main" val="1998082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246F0D7-7012-4EAA-AA0E-454A7202BD95}" type="slidenum">
              <a:rPr lang="en-IN" smtClean="0"/>
              <a:t>6</a:t>
            </a:fld>
            <a:endParaRPr lang="en-IN"/>
          </a:p>
        </p:txBody>
      </p:sp>
    </p:spTree>
    <p:extLst>
      <p:ext uri="{BB962C8B-B14F-4D97-AF65-F5344CB8AC3E}">
        <p14:creationId xmlns:p14="http://schemas.microsoft.com/office/powerpoint/2010/main" val="21969247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0B3A5-12BE-2C73-4D4F-3F64A79FEB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69F58FC-598E-75EB-2074-A0D455F10E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AA3270E-5E4F-C4C2-A510-EE7A3DD319A2}"/>
              </a:ext>
            </a:extLst>
          </p:cNvPr>
          <p:cNvSpPr>
            <a:spLocks noGrp="1"/>
          </p:cNvSpPr>
          <p:nvPr>
            <p:ph type="dt" sz="half" idx="10"/>
          </p:nvPr>
        </p:nvSpPr>
        <p:spPr/>
        <p:txBody>
          <a:bodyPr/>
          <a:lstStyle/>
          <a:p>
            <a:fld id="{0AFB0E93-CFF8-414B-9A80-6A5124B281C3}" type="datetimeFigureOut">
              <a:rPr lang="en-IN" smtClean="0"/>
              <a:t>30-08-2026</a:t>
            </a:fld>
            <a:endParaRPr lang="en-IN"/>
          </a:p>
        </p:txBody>
      </p:sp>
      <p:sp>
        <p:nvSpPr>
          <p:cNvPr id="5" name="Footer Placeholder 4">
            <a:extLst>
              <a:ext uri="{FF2B5EF4-FFF2-40B4-BE49-F238E27FC236}">
                <a16:creationId xmlns:a16="http://schemas.microsoft.com/office/drawing/2014/main" id="{B9F35F9F-1CE2-7624-DCFC-58FD4CEA21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9C0CCD-0396-0CC8-8863-794B688829D6}"/>
              </a:ext>
            </a:extLst>
          </p:cNvPr>
          <p:cNvSpPr>
            <a:spLocks noGrp="1"/>
          </p:cNvSpPr>
          <p:nvPr>
            <p:ph type="sldNum" sz="quarter" idx="12"/>
          </p:nvPr>
        </p:nvSpPr>
        <p:spPr/>
        <p:txBody>
          <a:bodyPr/>
          <a:lstStyle/>
          <a:p>
            <a:fld id="{EABB333F-92F1-4F0E-8087-66075FDCDEE6}" type="slidenum">
              <a:rPr lang="en-IN" smtClean="0"/>
              <a:t>‹#›</a:t>
            </a:fld>
            <a:endParaRPr lang="en-IN"/>
          </a:p>
        </p:txBody>
      </p:sp>
    </p:spTree>
    <p:extLst>
      <p:ext uri="{BB962C8B-B14F-4D97-AF65-F5344CB8AC3E}">
        <p14:creationId xmlns:p14="http://schemas.microsoft.com/office/powerpoint/2010/main" val="934668796"/>
      </p:ext>
    </p:extLst>
  </p:cSld>
  <p:clrMapOvr>
    <a:masterClrMapping/>
  </p:clrMapOvr>
  <p:transition>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14526-080D-57CE-7254-37B8CDAB2E2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2E1A8A4-8EEA-5451-BFC5-81506EA970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4377FA-455E-1763-DEEC-7DEA4334E3B9}"/>
              </a:ext>
            </a:extLst>
          </p:cNvPr>
          <p:cNvSpPr>
            <a:spLocks noGrp="1"/>
          </p:cNvSpPr>
          <p:nvPr>
            <p:ph type="dt" sz="half" idx="10"/>
          </p:nvPr>
        </p:nvSpPr>
        <p:spPr/>
        <p:txBody>
          <a:bodyPr/>
          <a:lstStyle/>
          <a:p>
            <a:fld id="{0AFB0E93-CFF8-414B-9A80-6A5124B281C3}" type="datetimeFigureOut">
              <a:rPr lang="en-IN" smtClean="0"/>
              <a:t>30-08-2026</a:t>
            </a:fld>
            <a:endParaRPr lang="en-IN"/>
          </a:p>
        </p:txBody>
      </p:sp>
      <p:sp>
        <p:nvSpPr>
          <p:cNvPr id="5" name="Footer Placeholder 4">
            <a:extLst>
              <a:ext uri="{FF2B5EF4-FFF2-40B4-BE49-F238E27FC236}">
                <a16:creationId xmlns:a16="http://schemas.microsoft.com/office/drawing/2014/main" id="{8922EF04-0064-1908-2443-9C4C524FB2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8D258C-3B04-3E2B-F44B-4EF44CE66902}"/>
              </a:ext>
            </a:extLst>
          </p:cNvPr>
          <p:cNvSpPr>
            <a:spLocks noGrp="1"/>
          </p:cNvSpPr>
          <p:nvPr>
            <p:ph type="sldNum" sz="quarter" idx="12"/>
          </p:nvPr>
        </p:nvSpPr>
        <p:spPr/>
        <p:txBody>
          <a:bodyPr/>
          <a:lstStyle/>
          <a:p>
            <a:fld id="{EABB333F-92F1-4F0E-8087-66075FDCDEE6}" type="slidenum">
              <a:rPr lang="en-IN" smtClean="0"/>
              <a:t>‹#›</a:t>
            </a:fld>
            <a:endParaRPr lang="en-IN"/>
          </a:p>
        </p:txBody>
      </p:sp>
    </p:spTree>
    <p:extLst>
      <p:ext uri="{BB962C8B-B14F-4D97-AF65-F5344CB8AC3E}">
        <p14:creationId xmlns:p14="http://schemas.microsoft.com/office/powerpoint/2010/main" val="2222036085"/>
      </p:ext>
    </p:extLst>
  </p:cSld>
  <p:clrMapOvr>
    <a:masterClrMapping/>
  </p:clrMapOvr>
  <p:transition>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D7B57-00EE-0608-3F52-BAC03AD63F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1EE8A72-4041-9706-2FF4-8F0E50B1012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3E3B585-6503-A2EE-DDC4-C64E354BE1E9}"/>
              </a:ext>
            </a:extLst>
          </p:cNvPr>
          <p:cNvSpPr>
            <a:spLocks noGrp="1"/>
          </p:cNvSpPr>
          <p:nvPr>
            <p:ph type="dt" sz="half" idx="10"/>
          </p:nvPr>
        </p:nvSpPr>
        <p:spPr/>
        <p:txBody>
          <a:bodyPr/>
          <a:lstStyle/>
          <a:p>
            <a:fld id="{0AFB0E93-CFF8-414B-9A80-6A5124B281C3}" type="datetimeFigureOut">
              <a:rPr lang="en-IN" smtClean="0"/>
              <a:t>30-08-2026</a:t>
            </a:fld>
            <a:endParaRPr lang="en-IN"/>
          </a:p>
        </p:txBody>
      </p:sp>
      <p:sp>
        <p:nvSpPr>
          <p:cNvPr id="5" name="Footer Placeholder 4">
            <a:extLst>
              <a:ext uri="{FF2B5EF4-FFF2-40B4-BE49-F238E27FC236}">
                <a16:creationId xmlns:a16="http://schemas.microsoft.com/office/drawing/2014/main" id="{54C38C76-281D-7733-83FC-39F61DB582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8C8D3E-AB02-83EA-F6D4-CD6A2F73D896}"/>
              </a:ext>
            </a:extLst>
          </p:cNvPr>
          <p:cNvSpPr>
            <a:spLocks noGrp="1"/>
          </p:cNvSpPr>
          <p:nvPr>
            <p:ph type="sldNum" sz="quarter" idx="12"/>
          </p:nvPr>
        </p:nvSpPr>
        <p:spPr/>
        <p:txBody>
          <a:bodyPr/>
          <a:lstStyle/>
          <a:p>
            <a:fld id="{EABB333F-92F1-4F0E-8087-66075FDCDEE6}" type="slidenum">
              <a:rPr lang="en-IN" smtClean="0"/>
              <a:t>‹#›</a:t>
            </a:fld>
            <a:endParaRPr lang="en-IN"/>
          </a:p>
        </p:txBody>
      </p:sp>
    </p:spTree>
    <p:extLst>
      <p:ext uri="{BB962C8B-B14F-4D97-AF65-F5344CB8AC3E}">
        <p14:creationId xmlns:p14="http://schemas.microsoft.com/office/powerpoint/2010/main" val="549843215"/>
      </p:ext>
    </p:extLst>
  </p:cSld>
  <p:clrMapOvr>
    <a:masterClrMapping/>
  </p:clrMapOvr>
  <p:transition>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88073-3D81-71EB-2FC3-5B11C5A1921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EAC3307-E360-4183-7619-80173E9D13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3A971FC-EDA4-B659-879A-D69E169D80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C6ACEC5-77F9-B1D2-D2E5-CA4F4BD7373D}"/>
              </a:ext>
            </a:extLst>
          </p:cNvPr>
          <p:cNvSpPr>
            <a:spLocks noGrp="1"/>
          </p:cNvSpPr>
          <p:nvPr>
            <p:ph type="dt" sz="half" idx="10"/>
          </p:nvPr>
        </p:nvSpPr>
        <p:spPr/>
        <p:txBody>
          <a:bodyPr/>
          <a:lstStyle/>
          <a:p>
            <a:fld id="{0AFB0E93-CFF8-414B-9A80-6A5124B281C3}" type="datetimeFigureOut">
              <a:rPr lang="en-IN" smtClean="0"/>
              <a:t>30-08-2026</a:t>
            </a:fld>
            <a:endParaRPr lang="en-IN"/>
          </a:p>
        </p:txBody>
      </p:sp>
      <p:sp>
        <p:nvSpPr>
          <p:cNvPr id="6" name="Footer Placeholder 5">
            <a:extLst>
              <a:ext uri="{FF2B5EF4-FFF2-40B4-BE49-F238E27FC236}">
                <a16:creationId xmlns:a16="http://schemas.microsoft.com/office/drawing/2014/main" id="{E0C00CD2-C7C7-D8FA-86F7-194F4FE3CC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C41742-D303-EC6D-2FB5-13EE8C7A7076}"/>
              </a:ext>
            </a:extLst>
          </p:cNvPr>
          <p:cNvSpPr>
            <a:spLocks noGrp="1"/>
          </p:cNvSpPr>
          <p:nvPr>
            <p:ph type="sldNum" sz="quarter" idx="12"/>
          </p:nvPr>
        </p:nvSpPr>
        <p:spPr/>
        <p:txBody>
          <a:bodyPr/>
          <a:lstStyle/>
          <a:p>
            <a:fld id="{EABB333F-92F1-4F0E-8087-66075FDCDEE6}" type="slidenum">
              <a:rPr lang="en-IN" smtClean="0"/>
              <a:t>‹#›</a:t>
            </a:fld>
            <a:endParaRPr lang="en-IN"/>
          </a:p>
        </p:txBody>
      </p:sp>
    </p:spTree>
    <p:extLst>
      <p:ext uri="{BB962C8B-B14F-4D97-AF65-F5344CB8AC3E}">
        <p14:creationId xmlns:p14="http://schemas.microsoft.com/office/powerpoint/2010/main" val="3245857352"/>
      </p:ext>
    </p:extLst>
  </p:cSld>
  <p:clrMapOvr>
    <a:masterClrMapping/>
  </p:clrMapOvr>
  <p:transition>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448C9-7603-48AE-6FF2-0B7B3665C43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A22D377-FEA6-307A-946E-4023DFC3CC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7FC27B-990D-53C5-0DE0-2B30AAAF0A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A4EA5DC-740C-42CE-FFBF-1514FBAC0C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CE99D8-2746-245E-547D-CC90CF49DC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AFC201F-29D3-52FD-0173-63EAAEAAD861}"/>
              </a:ext>
            </a:extLst>
          </p:cNvPr>
          <p:cNvSpPr>
            <a:spLocks noGrp="1"/>
          </p:cNvSpPr>
          <p:nvPr>
            <p:ph type="dt" sz="half" idx="10"/>
          </p:nvPr>
        </p:nvSpPr>
        <p:spPr/>
        <p:txBody>
          <a:bodyPr/>
          <a:lstStyle/>
          <a:p>
            <a:fld id="{0AFB0E93-CFF8-414B-9A80-6A5124B281C3}" type="datetimeFigureOut">
              <a:rPr lang="en-IN" smtClean="0"/>
              <a:t>30-08-2026</a:t>
            </a:fld>
            <a:endParaRPr lang="en-IN"/>
          </a:p>
        </p:txBody>
      </p:sp>
      <p:sp>
        <p:nvSpPr>
          <p:cNvPr id="8" name="Footer Placeholder 7">
            <a:extLst>
              <a:ext uri="{FF2B5EF4-FFF2-40B4-BE49-F238E27FC236}">
                <a16:creationId xmlns:a16="http://schemas.microsoft.com/office/drawing/2014/main" id="{3E18A75D-99FE-0F47-1355-58A70DFB70B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EE848E4-7C7C-D7AF-1947-8395F9263354}"/>
              </a:ext>
            </a:extLst>
          </p:cNvPr>
          <p:cNvSpPr>
            <a:spLocks noGrp="1"/>
          </p:cNvSpPr>
          <p:nvPr>
            <p:ph type="sldNum" sz="quarter" idx="12"/>
          </p:nvPr>
        </p:nvSpPr>
        <p:spPr/>
        <p:txBody>
          <a:bodyPr/>
          <a:lstStyle/>
          <a:p>
            <a:fld id="{EABB333F-92F1-4F0E-8087-66075FDCDEE6}" type="slidenum">
              <a:rPr lang="en-IN" smtClean="0"/>
              <a:t>‹#›</a:t>
            </a:fld>
            <a:endParaRPr lang="en-IN"/>
          </a:p>
        </p:txBody>
      </p:sp>
    </p:spTree>
    <p:extLst>
      <p:ext uri="{BB962C8B-B14F-4D97-AF65-F5344CB8AC3E}">
        <p14:creationId xmlns:p14="http://schemas.microsoft.com/office/powerpoint/2010/main" val="3937309770"/>
      </p:ext>
    </p:extLst>
  </p:cSld>
  <p:clrMapOvr>
    <a:masterClrMapping/>
  </p:clrMapOvr>
  <p:transition>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AE215-0F11-18C2-5812-65928E74339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1185963-D931-4EB0-6A0D-42D89BD291F7}"/>
              </a:ext>
            </a:extLst>
          </p:cNvPr>
          <p:cNvSpPr>
            <a:spLocks noGrp="1"/>
          </p:cNvSpPr>
          <p:nvPr>
            <p:ph type="dt" sz="half" idx="10"/>
          </p:nvPr>
        </p:nvSpPr>
        <p:spPr/>
        <p:txBody>
          <a:bodyPr/>
          <a:lstStyle/>
          <a:p>
            <a:fld id="{0AFB0E93-CFF8-414B-9A80-6A5124B281C3}" type="datetimeFigureOut">
              <a:rPr lang="en-IN" smtClean="0"/>
              <a:t>30-08-2026</a:t>
            </a:fld>
            <a:endParaRPr lang="en-IN"/>
          </a:p>
        </p:txBody>
      </p:sp>
      <p:sp>
        <p:nvSpPr>
          <p:cNvPr id="4" name="Footer Placeholder 3">
            <a:extLst>
              <a:ext uri="{FF2B5EF4-FFF2-40B4-BE49-F238E27FC236}">
                <a16:creationId xmlns:a16="http://schemas.microsoft.com/office/drawing/2014/main" id="{78638317-82CE-F409-D390-FBD6B64875D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5CED8BF-9B6D-B73E-80DF-FD0C34819BAB}"/>
              </a:ext>
            </a:extLst>
          </p:cNvPr>
          <p:cNvSpPr>
            <a:spLocks noGrp="1"/>
          </p:cNvSpPr>
          <p:nvPr>
            <p:ph type="sldNum" sz="quarter" idx="12"/>
          </p:nvPr>
        </p:nvSpPr>
        <p:spPr/>
        <p:txBody>
          <a:bodyPr/>
          <a:lstStyle/>
          <a:p>
            <a:fld id="{EABB333F-92F1-4F0E-8087-66075FDCDEE6}" type="slidenum">
              <a:rPr lang="en-IN" smtClean="0"/>
              <a:t>‹#›</a:t>
            </a:fld>
            <a:endParaRPr lang="en-IN"/>
          </a:p>
        </p:txBody>
      </p:sp>
    </p:spTree>
    <p:extLst>
      <p:ext uri="{BB962C8B-B14F-4D97-AF65-F5344CB8AC3E}">
        <p14:creationId xmlns:p14="http://schemas.microsoft.com/office/powerpoint/2010/main" val="2371495442"/>
      </p:ext>
    </p:extLst>
  </p:cSld>
  <p:clrMapOvr>
    <a:masterClrMapping/>
  </p:clrMapOvr>
  <p:transition>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2E594B-5BCC-3010-3C02-22379C7D17E8}"/>
              </a:ext>
            </a:extLst>
          </p:cNvPr>
          <p:cNvSpPr>
            <a:spLocks noGrp="1"/>
          </p:cNvSpPr>
          <p:nvPr>
            <p:ph type="dt" sz="half" idx="10"/>
          </p:nvPr>
        </p:nvSpPr>
        <p:spPr/>
        <p:txBody>
          <a:bodyPr/>
          <a:lstStyle/>
          <a:p>
            <a:fld id="{0AFB0E93-CFF8-414B-9A80-6A5124B281C3}" type="datetimeFigureOut">
              <a:rPr lang="en-IN" smtClean="0"/>
              <a:t>30-08-2026</a:t>
            </a:fld>
            <a:endParaRPr lang="en-IN"/>
          </a:p>
        </p:txBody>
      </p:sp>
      <p:sp>
        <p:nvSpPr>
          <p:cNvPr id="3" name="Footer Placeholder 2">
            <a:extLst>
              <a:ext uri="{FF2B5EF4-FFF2-40B4-BE49-F238E27FC236}">
                <a16:creationId xmlns:a16="http://schemas.microsoft.com/office/drawing/2014/main" id="{74F785AC-F458-6DC3-1CC7-8747D8E1F4D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3EC25C1-9975-C1CD-9101-C9058FBBCA61}"/>
              </a:ext>
            </a:extLst>
          </p:cNvPr>
          <p:cNvSpPr>
            <a:spLocks noGrp="1"/>
          </p:cNvSpPr>
          <p:nvPr>
            <p:ph type="sldNum" sz="quarter" idx="12"/>
          </p:nvPr>
        </p:nvSpPr>
        <p:spPr/>
        <p:txBody>
          <a:bodyPr/>
          <a:lstStyle/>
          <a:p>
            <a:fld id="{EABB333F-92F1-4F0E-8087-66075FDCDEE6}" type="slidenum">
              <a:rPr lang="en-IN" smtClean="0"/>
              <a:t>‹#›</a:t>
            </a:fld>
            <a:endParaRPr lang="en-IN"/>
          </a:p>
        </p:txBody>
      </p:sp>
    </p:spTree>
    <p:extLst>
      <p:ext uri="{BB962C8B-B14F-4D97-AF65-F5344CB8AC3E}">
        <p14:creationId xmlns:p14="http://schemas.microsoft.com/office/powerpoint/2010/main" val="2369767830"/>
      </p:ext>
    </p:extLst>
  </p:cSld>
  <p:clrMapOvr>
    <a:masterClrMapping/>
  </p:clrMapOvr>
  <p:transition>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668C0-CBCB-6A40-1260-591AECBDBD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2576BF6-FA3F-8DD6-C242-7ABA3B6E60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8D9443E-2F48-0598-DD15-44DD454535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5DD472-D36C-2132-B808-9890B7638688}"/>
              </a:ext>
            </a:extLst>
          </p:cNvPr>
          <p:cNvSpPr>
            <a:spLocks noGrp="1"/>
          </p:cNvSpPr>
          <p:nvPr>
            <p:ph type="dt" sz="half" idx="10"/>
          </p:nvPr>
        </p:nvSpPr>
        <p:spPr/>
        <p:txBody>
          <a:bodyPr/>
          <a:lstStyle/>
          <a:p>
            <a:fld id="{0AFB0E93-CFF8-414B-9A80-6A5124B281C3}" type="datetimeFigureOut">
              <a:rPr lang="en-IN" smtClean="0"/>
              <a:t>30-08-2026</a:t>
            </a:fld>
            <a:endParaRPr lang="en-IN"/>
          </a:p>
        </p:txBody>
      </p:sp>
      <p:sp>
        <p:nvSpPr>
          <p:cNvPr id="6" name="Footer Placeholder 5">
            <a:extLst>
              <a:ext uri="{FF2B5EF4-FFF2-40B4-BE49-F238E27FC236}">
                <a16:creationId xmlns:a16="http://schemas.microsoft.com/office/drawing/2014/main" id="{A4AD2E56-5B21-45DF-1A8A-0388F32CCB4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FFF32EC-A6EF-D0EA-2090-2323C28B8385}"/>
              </a:ext>
            </a:extLst>
          </p:cNvPr>
          <p:cNvSpPr>
            <a:spLocks noGrp="1"/>
          </p:cNvSpPr>
          <p:nvPr>
            <p:ph type="sldNum" sz="quarter" idx="12"/>
          </p:nvPr>
        </p:nvSpPr>
        <p:spPr/>
        <p:txBody>
          <a:bodyPr/>
          <a:lstStyle/>
          <a:p>
            <a:fld id="{EABB333F-92F1-4F0E-8087-66075FDCDEE6}" type="slidenum">
              <a:rPr lang="en-IN" smtClean="0"/>
              <a:t>‹#›</a:t>
            </a:fld>
            <a:endParaRPr lang="en-IN"/>
          </a:p>
        </p:txBody>
      </p:sp>
    </p:spTree>
    <p:extLst>
      <p:ext uri="{BB962C8B-B14F-4D97-AF65-F5344CB8AC3E}">
        <p14:creationId xmlns:p14="http://schemas.microsoft.com/office/powerpoint/2010/main" val="1109261911"/>
      </p:ext>
    </p:extLst>
  </p:cSld>
  <p:clrMapOvr>
    <a:masterClrMapping/>
  </p:clrMapOvr>
  <p:transition>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5D513-6B6F-DE4A-0CE6-9DA0E8E875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AB9F440-A24A-2686-A529-E9F4A2B30C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A14373D-9D18-EE29-3DA4-7FBD8D45C4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3A7C15-ECDB-7DC0-11C4-F5FF89998348}"/>
              </a:ext>
            </a:extLst>
          </p:cNvPr>
          <p:cNvSpPr>
            <a:spLocks noGrp="1"/>
          </p:cNvSpPr>
          <p:nvPr>
            <p:ph type="dt" sz="half" idx="10"/>
          </p:nvPr>
        </p:nvSpPr>
        <p:spPr/>
        <p:txBody>
          <a:bodyPr/>
          <a:lstStyle/>
          <a:p>
            <a:fld id="{0AFB0E93-CFF8-414B-9A80-6A5124B281C3}" type="datetimeFigureOut">
              <a:rPr lang="en-IN" smtClean="0"/>
              <a:t>30-08-2026</a:t>
            </a:fld>
            <a:endParaRPr lang="en-IN"/>
          </a:p>
        </p:txBody>
      </p:sp>
      <p:sp>
        <p:nvSpPr>
          <p:cNvPr id="6" name="Footer Placeholder 5">
            <a:extLst>
              <a:ext uri="{FF2B5EF4-FFF2-40B4-BE49-F238E27FC236}">
                <a16:creationId xmlns:a16="http://schemas.microsoft.com/office/drawing/2014/main" id="{48CD18BD-D2C4-70EE-D56C-36B8E87AF2F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F343CD-237F-6F2F-683F-A520E4D39211}"/>
              </a:ext>
            </a:extLst>
          </p:cNvPr>
          <p:cNvSpPr>
            <a:spLocks noGrp="1"/>
          </p:cNvSpPr>
          <p:nvPr>
            <p:ph type="sldNum" sz="quarter" idx="12"/>
          </p:nvPr>
        </p:nvSpPr>
        <p:spPr/>
        <p:txBody>
          <a:bodyPr/>
          <a:lstStyle/>
          <a:p>
            <a:fld id="{EABB333F-92F1-4F0E-8087-66075FDCDEE6}" type="slidenum">
              <a:rPr lang="en-IN" smtClean="0"/>
              <a:t>‹#›</a:t>
            </a:fld>
            <a:endParaRPr lang="en-IN"/>
          </a:p>
        </p:txBody>
      </p:sp>
    </p:spTree>
    <p:extLst>
      <p:ext uri="{BB962C8B-B14F-4D97-AF65-F5344CB8AC3E}">
        <p14:creationId xmlns:p14="http://schemas.microsoft.com/office/powerpoint/2010/main" val="1842053201"/>
      </p:ext>
    </p:extLst>
  </p:cSld>
  <p:clrMapOvr>
    <a:masterClrMapping/>
  </p:clrMapOvr>
  <p:transition>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21DEF-D90F-35E4-3E0D-7EC0140F048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30AF0F0-E854-2192-4AFD-0087C7D9AE8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6584FA-F8D9-AC4F-3708-FB284B9A1396}"/>
              </a:ext>
            </a:extLst>
          </p:cNvPr>
          <p:cNvSpPr>
            <a:spLocks noGrp="1"/>
          </p:cNvSpPr>
          <p:nvPr>
            <p:ph type="dt" sz="half" idx="10"/>
          </p:nvPr>
        </p:nvSpPr>
        <p:spPr/>
        <p:txBody>
          <a:bodyPr/>
          <a:lstStyle/>
          <a:p>
            <a:fld id="{0AFB0E93-CFF8-414B-9A80-6A5124B281C3}" type="datetimeFigureOut">
              <a:rPr lang="en-IN" smtClean="0"/>
              <a:t>30-08-2026</a:t>
            </a:fld>
            <a:endParaRPr lang="en-IN"/>
          </a:p>
        </p:txBody>
      </p:sp>
      <p:sp>
        <p:nvSpPr>
          <p:cNvPr id="5" name="Footer Placeholder 4">
            <a:extLst>
              <a:ext uri="{FF2B5EF4-FFF2-40B4-BE49-F238E27FC236}">
                <a16:creationId xmlns:a16="http://schemas.microsoft.com/office/drawing/2014/main" id="{A1244CAB-F07B-09B9-AC30-F44CD2FFCE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D38CFB-B95A-28A5-C28E-35E6427643DA}"/>
              </a:ext>
            </a:extLst>
          </p:cNvPr>
          <p:cNvSpPr>
            <a:spLocks noGrp="1"/>
          </p:cNvSpPr>
          <p:nvPr>
            <p:ph type="sldNum" sz="quarter" idx="12"/>
          </p:nvPr>
        </p:nvSpPr>
        <p:spPr/>
        <p:txBody>
          <a:bodyPr/>
          <a:lstStyle/>
          <a:p>
            <a:fld id="{EABB333F-92F1-4F0E-8087-66075FDCDEE6}" type="slidenum">
              <a:rPr lang="en-IN" smtClean="0"/>
              <a:t>‹#›</a:t>
            </a:fld>
            <a:endParaRPr lang="en-IN"/>
          </a:p>
        </p:txBody>
      </p:sp>
    </p:spTree>
    <p:extLst>
      <p:ext uri="{BB962C8B-B14F-4D97-AF65-F5344CB8AC3E}">
        <p14:creationId xmlns:p14="http://schemas.microsoft.com/office/powerpoint/2010/main" val="958268504"/>
      </p:ext>
    </p:extLst>
  </p:cSld>
  <p:clrMapOvr>
    <a:masterClrMapping/>
  </p:clrMapOvr>
  <p:transition>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190449-4289-F6F2-14D0-37E58B16C63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EC603AD-B336-1FB2-C4D8-6CE514F27E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A608C0-0FDE-351E-E5B7-C48A6615FEB6}"/>
              </a:ext>
            </a:extLst>
          </p:cNvPr>
          <p:cNvSpPr>
            <a:spLocks noGrp="1"/>
          </p:cNvSpPr>
          <p:nvPr>
            <p:ph type="dt" sz="half" idx="10"/>
          </p:nvPr>
        </p:nvSpPr>
        <p:spPr/>
        <p:txBody>
          <a:bodyPr/>
          <a:lstStyle/>
          <a:p>
            <a:fld id="{0AFB0E93-CFF8-414B-9A80-6A5124B281C3}" type="datetimeFigureOut">
              <a:rPr lang="en-IN" smtClean="0"/>
              <a:t>30-08-2026</a:t>
            </a:fld>
            <a:endParaRPr lang="en-IN"/>
          </a:p>
        </p:txBody>
      </p:sp>
      <p:sp>
        <p:nvSpPr>
          <p:cNvPr id="5" name="Footer Placeholder 4">
            <a:extLst>
              <a:ext uri="{FF2B5EF4-FFF2-40B4-BE49-F238E27FC236}">
                <a16:creationId xmlns:a16="http://schemas.microsoft.com/office/drawing/2014/main" id="{47529233-D755-E449-F061-EB641EFAB9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9BD55D-CD7D-2835-5E54-9F4A7441E77E}"/>
              </a:ext>
            </a:extLst>
          </p:cNvPr>
          <p:cNvSpPr>
            <a:spLocks noGrp="1"/>
          </p:cNvSpPr>
          <p:nvPr>
            <p:ph type="sldNum" sz="quarter" idx="12"/>
          </p:nvPr>
        </p:nvSpPr>
        <p:spPr/>
        <p:txBody>
          <a:bodyPr/>
          <a:lstStyle/>
          <a:p>
            <a:fld id="{EABB333F-92F1-4F0E-8087-66075FDCDEE6}" type="slidenum">
              <a:rPr lang="en-IN" smtClean="0"/>
              <a:t>‹#›</a:t>
            </a:fld>
            <a:endParaRPr lang="en-IN"/>
          </a:p>
        </p:txBody>
      </p:sp>
    </p:spTree>
    <p:extLst>
      <p:ext uri="{BB962C8B-B14F-4D97-AF65-F5344CB8AC3E}">
        <p14:creationId xmlns:p14="http://schemas.microsoft.com/office/powerpoint/2010/main" val="884945064"/>
      </p:ext>
    </p:extLst>
  </p:cSld>
  <p:clrMapOvr>
    <a:masterClrMapping/>
  </p:clrMapOvr>
  <p:transition>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F87296-CBD4-626B-3F08-27B03A6DA4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7B31032-AC30-534D-DF1B-12ACC23372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676804-14B7-5F27-0F91-C91929986D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FB0E93-CFF8-414B-9A80-6A5124B281C3}" type="datetimeFigureOut">
              <a:rPr lang="en-IN" smtClean="0"/>
              <a:t>30-08-2026</a:t>
            </a:fld>
            <a:endParaRPr lang="en-IN"/>
          </a:p>
        </p:txBody>
      </p:sp>
      <p:sp>
        <p:nvSpPr>
          <p:cNvPr id="5" name="Footer Placeholder 4">
            <a:extLst>
              <a:ext uri="{FF2B5EF4-FFF2-40B4-BE49-F238E27FC236}">
                <a16:creationId xmlns:a16="http://schemas.microsoft.com/office/drawing/2014/main" id="{E054CCCE-BF09-5488-441A-882DF34DCA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B5929B3-732A-1192-DC55-9804B63E16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BB333F-92F1-4F0E-8087-66075FDCDEE6}" type="slidenum">
              <a:rPr lang="en-IN" smtClean="0"/>
              <a:t>‹#›</a:t>
            </a:fld>
            <a:endParaRPr lang="en-IN"/>
          </a:p>
        </p:txBody>
      </p:sp>
    </p:spTree>
    <p:extLst>
      <p:ext uri="{BB962C8B-B14F-4D97-AF65-F5344CB8AC3E}">
        <p14:creationId xmlns:p14="http://schemas.microsoft.com/office/powerpoint/2010/main" val="1676237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push dir="u"/>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1895475" y="4119116"/>
            <a:ext cx="2000250" cy="409575"/>
          </a:xfrm>
          <a:prstGeom prst="rect">
            <a:avLst/>
          </a:prstGeom>
        </p:spPr>
      </p:pic>
      <p:pic>
        <p:nvPicPr>
          <p:cNvPr id="4" name="Picture 3" descr="image.png"/>
          <p:cNvPicPr>
            <a:picLocks noChangeAspect="1"/>
          </p:cNvPicPr>
          <p:nvPr/>
        </p:nvPicPr>
        <p:blipFill>
          <a:blip r:embed="rId5"/>
          <a:stretch>
            <a:fillRect/>
          </a:stretch>
        </p:blipFill>
        <p:spPr>
          <a:xfrm>
            <a:off x="4038600" y="4119116"/>
            <a:ext cx="1771650" cy="409575"/>
          </a:xfrm>
          <a:prstGeom prst="rect">
            <a:avLst/>
          </a:prstGeom>
        </p:spPr>
      </p:pic>
      <p:pic>
        <p:nvPicPr>
          <p:cNvPr id="5" name="Picture 4" descr="image.png"/>
          <p:cNvPicPr>
            <a:picLocks noChangeAspect="1"/>
          </p:cNvPicPr>
          <p:nvPr/>
        </p:nvPicPr>
        <p:blipFill>
          <a:blip r:embed="rId6"/>
          <a:stretch>
            <a:fillRect/>
          </a:stretch>
        </p:blipFill>
        <p:spPr>
          <a:xfrm>
            <a:off x="5938837" y="4119116"/>
            <a:ext cx="2695575" cy="409575"/>
          </a:xfrm>
          <a:prstGeom prst="rect">
            <a:avLst/>
          </a:prstGeom>
        </p:spPr>
      </p:pic>
      <p:pic>
        <p:nvPicPr>
          <p:cNvPr id="6" name="Picture 5" descr="image.png"/>
          <p:cNvPicPr>
            <a:picLocks noChangeAspect="1"/>
          </p:cNvPicPr>
          <p:nvPr/>
        </p:nvPicPr>
        <p:blipFill>
          <a:blip r:embed="rId7"/>
          <a:stretch>
            <a:fillRect/>
          </a:stretch>
        </p:blipFill>
        <p:spPr>
          <a:xfrm>
            <a:off x="8763000" y="4120979"/>
            <a:ext cx="1533525" cy="409575"/>
          </a:xfrm>
          <a:prstGeom prst="rect">
            <a:avLst/>
          </a:prstGeom>
        </p:spPr>
      </p:pic>
      <p:pic>
        <p:nvPicPr>
          <p:cNvPr id="7" name="Picture 6" descr="image.png"/>
          <p:cNvPicPr>
            <a:picLocks noChangeAspect="1"/>
          </p:cNvPicPr>
          <p:nvPr/>
        </p:nvPicPr>
        <p:blipFill>
          <a:blip r:embed="rId8"/>
          <a:stretch>
            <a:fillRect/>
          </a:stretch>
        </p:blipFill>
        <p:spPr>
          <a:xfrm>
            <a:off x="3262312" y="4609057"/>
            <a:ext cx="1590675" cy="409575"/>
          </a:xfrm>
          <a:prstGeom prst="rect">
            <a:avLst/>
          </a:prstGeom>
        </p:spPr>
      </p:pic>
      <p:pic>
        <p:nvPicPr>
          <p:cNvPr id="8" name="Picture 7" descr="image.png"/>
          <p:cNvPicPr>
            <a:picLocks noChangeAspect="1"/>
          </p:cNvPicPr>
          <p:nvPr/>
        </p:nvPicPr>
        <p:blipFill>
          <a:blip r:embed="rId9"/>
          <a:stretch>
            <a:fillRect/>
          </a:stretch>
        </p:blipFill>
        <p:spPr>
          <a:xfrm>
            <a:off x="4986337" y="4604221"/>
            <a:ext cx="2085975" cy="409575"/>
          </a:xfrm>
          <a:prstGeom prst="rect">
            <a:avLst/>
          </a:prstGeom>
        </p:spPr>
      </p:pic>
      <p:pic>
        <p:nvPicPr>
          <p:cNvPr id="9" name="Picture 8" descr="image.png"/>
          <p:cNvPicPr>
            <a:picLocks noChangeAspect="1"/>
          </p:cNvPicPr>
          <p:nvPr/>
        </p:nvPicPr>
        <p:blipFill>
          <a:blip r:embed="rId10"/>
          <a:stretch>
            <a:fillRect/>
          </a:stretch>
        </p:blipFill>
        <p:spPr>
          <a:xfrm>
            <a:off x="7205662" y="4604220"/>
            <a:ext cx="1724025" cy="409575"/>
          </a:xfrm>
          <a:prstGeom prst="rect">
            <a:avLst/>
          </a:prstGeom>
        </p:spPr>
      </p:pic>
      <p:sp>
        <p:nvSpPr>
          <p:cNvPr id="11" name="TextBox 10"/>
          <p:cNvSpPr txBox="1"/>
          <p:nvPr/>
        </p:nvSpPr>
        <p:spPr>
          <a:xfrm>
            <a:off x="390999" y="2076612"/>
            <a:ext cx="11581447" cy="577081"/>
          </a:xfrm>
          <a:prstGeom prst="rect">
            <a:avLst/>
          </a:prstGeom>
          <a:noFill/>
        </p:spPr>
        <p:txBody>
          <a:bodyPr wrap="square" lIns="0" tIns="0" rIns="0" bIns="0" anchor="t">
            <a:spAutoFit/>
          </a:bodyPr>
          <a:lstStyle/>
          <a:p>
            <a:pPr algn="ctr">
              <a:lnSpc>
                <a:spcPts val="4484"/>
              </a:lnSpc>
            </a:pPr>
            <a:r>
              <a:rPr sz="4200" b="1" i="0" u="none" dirty="0">
                <a:solidFill>
                  <a:srgbClr val="111827"/>
                </a:solidFill>
                <a:latin typeface="Plus Jakarta Sans ExtraBold"/>
              </a:rPr>
              <a:t>Data Analyst </a:t>
            </a:r>
            <a:r>
              <a:rPr sz="4200" b="1" i="0" u="none" dirty="0">
                <a:solidFill>
                  <a:srgbClr val="E50914"/>
                </a:solidFill>
                <a:latin typeface="Plus Jakarta Sans ExtraBold"/>
              </a:rPr>
              <a:t>Capstone Project</a:t>
            </a:r>
          </a:p>
        </p:txBody>
      </p:sp>
      <p:sp>
        <p:nvSpPr>
          <p:cNvPr id="12" name="Rectangle 11"/>
          <p:cNvSpPr/>
          <p:nvPr/>
        </p:nvSpPr>
        <p:spPr>
          <a:xfrm>
            <a:off x="1905000" y="3492251"/>
            <a:ext cx="8382000" cy="1428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14349" y="3672706"/>
            <a:ext cx="11029950" cy="307777"/>
          </a:xfrm>
          <a:prstGeom prst="rect">
            <a:avLst/>
          </a:prstGeom>
          <a:noFill/>
        </p:spPr>
        <p:txBody>
          <a:bodyPr wrap="square" lIns="0" tIns="0" rIns="0" bIns="0" anchor="t">
            <a:spAutoFit/>
          </a:bodyPr>
          <a:lstStyle/>
          <a:p>
            <a:pPr algn="ctr"/>
            <a:r>
              <a:rPr sz="2000" b="1" i="0" u="none" dirty="0">
                <a:latin typeface="Plus Jakarta Sans ExtraBold"/>
              </a:rPr>
              <a:t>PRESENTING BY</a:t>
            </a:r>
          </a:p>
        </p:txBody>
      </p:sp>
      <p:pic>
        <p:nvPicPr>
          <p:cNvPr id="14" name="Picture 13" descr="image.png"/>
          <p:cNvPicPr>
            <a:picLocks noChangeAspect="1"/>
          </p:cNvPicPr>
          <p:nvPr/>
        </p:nvPicPr>
        <p:blipFill>
          <a:blip r:embed="rId11"/>
          <a:stretch>
            <a:fillRect/>
          </a:stretch>
        </p:blipFill>
        <p:spPr>
          <a:xfrm>
            <a:off x="4375797" y="3070527"/>
            <a:ext cx="112514" cy="123825"/>
          </a:xfrm>
          <a:prstGeom prst="rect">
            <a:avLst/>
          </a:prstGeom>
        </p:spPr>
      </p:pic>
      <p:sp>
        <p:nvSpPr>
          <p:cNvPr id="15" name="TextBox 14"/>
          <p:cNvSpPr txBox="1"/>
          <p:nvPr/>
        </p:nvSpPr>
        <p:spPr>
          <a:xfrm>
            <a:off x="4641822" y="3018025"/>
            <a:ext cx="3006179" cy="223138"/>
          </a:xfrm>
          <a:prstGeom prst="rect">
            <a:avLst/>
          </a:prstGeom>
          <a:noFill/>
        </p:spPr>
        <p:txBody>
          <a:bodyPr wrap="square" lIns="0" tIns="0" rIns="0" bIns="0" anchor="t">
            <a:spAutoFit/>
          </a:bodyPr>
          <a:lstStyle/>
          <a:p>
            <a:pPr algn="ctr"/>
            <a:r>
              <a:rPr sz="1450" b="1" i="0" u="none" dirty="0">
                <a:solidFill>
                  <a:srgbClr val="E50914"/>
                </a:solidFill>
                <a:latin typeface="Plus Jakarta Sans ExtraBold"/>
              </a:rPr>
              <a:t>NETFLIX EXPLORATORY DATA ANALYSIS</a:t>
            </a:r>
          </a:p>
        </p:txBody>
      </p:sp>
      <p:pic>
        <p:nvPicPr>
          <p:cNvPr id="16" name="Picture 15" descr="image.png"/>
          <p:cNvPicPr>
            <a:picLocks noChangeAspect="1"/>
          </p:cNvPicPr>
          <p:nvPr/>
        </p:nvPicPr>
        <p:blipFill>
          <a:blip r:embed="rId12"/>
          <a:stretch>
            <a:fillRect/>
          </a:stretch>
        </p:blipFill>
        <p:spPr>
          <a:xfrm>
            <a:off x="2062163" y="4264206"/>
            <a:ext cx="161925" cy="128587"/>
          </a:xfrm>
          <a:prstGeom prst="rect">
            <a:avLst/>
          </a:prstGeom>
        </p:spPr>
      </p:pic>
      <p:pic>
        <p:nvPicPr>
          <p:cNvPr id="17" name="Picture 16" descr="image.png"/>
          <p:cNvPicPr>
            <a:picLocks noChangeAspect="1"/>
          </p:cNvPicPr>
          <p:nvPr/>
        </p:nvPicPr>
        <p:blipFill>
          <a:blip r:embed="rId12"/>
          <a:stretch>
            <a:fillRect/>
          </a:stretch>
        </p:blipFill>
        <p:spPr>
          <a:xfrm>
            <a:off x="4209081" y="4264206"/>
            <a:ext cx="166716" cy="132391"/>
          </a:xfrm>
          <a:prstGeom prst="rect">
            <a:avLst/>
          </a:prstGeom>
        </p:spPr>
      </p:pic>
      <p:pic>
        <p:nvPicPr>
          <p:cNvPr id="18" name="Picture 17" descr="image.png"/>
          <p:cNvPicPr>
            <a:picLocks noChangeAspect="1"/>
          </p:cNvPicPr>
          <p:nvPr/>
        </p:nvPicPr>
        <p:blipFill>
          <a:blip r:embed="rId12"/>
          <a:stretch>
            <a:fillRect/>
          </a:stretch>
        </p:blipFill>
        <p:spPr>
          <a:xfrm>
            <a:off x="6095999" y="4255143"/>
            <a:ext cx="161925" cy="128587"/>
          </a:xfrm>
          <a:prstGeom prst="rect">
            <a:avLst/>
          </a:prstGeom>
        </p:spPr>
      </p:pic>
      <p:pic>
        <p:nvPicPr>
          <p:cNvPr id="19" name="Picture 18" descr="image.png"/>
          <p:cNvPicPr>
            <a:picLocks noChangeAspect="1"/>
          </p:cNvPicPr>
          <p:nvPr/>
        </p:nvPicPr>
        <p:blipFill>
          <a:blip r:embed="rId12"/>
          <a:stretch>
            <a:fillRect/>
          </a:stretch>
        </p:blipFill>
        <p:spPr>
          <a:xfrm>
            <a:off x="8929687" y="4255143"/>
            <a:ext cx="161925" cy="128587"/>
          </a:xfrm>
          <a:prstGeom prst="rect">
            <a:avLst/>
          </a:prstGeom>
        </p:spPr>
      </p:pic>
      <p:pic>
        <p:nvPicPr>
          <p:cNvPr id="20" name="Picture 19" descr="image.png"/>
          <p:cNvPicPr>
            <a:picLocks noChangeAspect="1"/>
          </p:cNvPicPr>
          <p:nvPr/>
        </p:nvPicPr>
        <p:blipFill>
          <a:blip r:embed="rId13"/>
          <a:stretch>
            <a:fillRect/>
          </a:stretch>
        </p:blipFill>
        <p:spPr>
          <a:xfrm>
            <a:off x="3415065" y="4755336"/>
            <a:ext cx="161925" cy="128587"/>
          </a:xfrm>
          <a:prstGeom prst="rect">
            <a:avLst/>
          </a:prstGeom>
        </p:spPr>
      </p:pic>
      <p:pic>
        <p:nvPicPr>
          <p:cNvPr id="21" name="Picture 20" descr="image.png"/>
          <p:cNvPicPr>
            <a:picLocks noChangeAspect="1"/>
          </p:cNvPicPr>
          <p:nvPr/>
        </p:nvPicPr>
        <p:blipFill>
          <a:blip r:embed="rId13"/>
          <a:stretch>
            <a:fillRect/>
          </a:stretch>
        </p:blipFill>
        <p:spPr>
          <a:xfrm>
            <a:off x="5127183" y="4744713"/>
            <a:ext cx="161925" cy="128587"/>
          </a:xfrm>
          <a:prstGeom prst="rect">
            <a:avLst/>
          </a:prstGeom>
        </p:spPr>
      </p:pic>
      <p:pic>
        <p:nvPicPr>
          <p:cNvPr id="22" name="Picture 21" descr="image.png"/>
          <p:cNvPicPr>
            <a:picLocks noChangeAspect="1"/>
          </p:cNvPicPr>
          <p:nvPr/>
        </p:nvPicPr>
        <p:blipFill>
          <a:blip r:embed="rId13"/>
          <a:stretch>
            <a:fillRect/>
          </a:stretch>
        </p:blipFill>
        <p:spPr>
          <a:xfrm>
            <a:off x="7370320" y="4749551"/>
            <a:ext cx="161925" cy="1285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hatGPT Image Aug 30, 2026, 02_14_51 AM.png"/>
          <p:cNvPicPr>
            <a:picLocks noChangeAspect="1"/>
          </p:cNvPicPr>
          <p:nvPr/>
        </p:nvPicPr>
        <p:blipFill>
          <a:blip r:embed="rId2"/>
          <a:stretch>
            <a:fillRect/>
          </a:stretch>
        </p:blipFill>
        <p:spPr>
          <a:xfrm>
            <a:off x="0" y="0"/>
            <a:ext cx="12191999" cy="6858000"/>
          </a:xfrm>
          <a:prstGeom prst="rect">
            <a:avLst/>
          </a:prstGeom>
        </p:spPr>
      </p:pic>
      <p:sp>
        <p:nvSpPr>
          <p:cNvPr id="4" name="TextBox 3">
            <a:extLst>
              <a:ext uri="{FF2B5EF4-FFF2-40B4-BE49-F238E27FC236}">
                <a16:creationId xmlns:a16="http://schemas.microsoft.com/office/drawing/2014/main" id="{80015523-600A-D60F-D99B-310A624D561F}"/>
              </a:ext>
            </a:extLst>
          </p:cNvPr>
          <p:cNvSpPr txBox="1"/>
          <p:nvPr/>
        </p:nvSpPr>
        <p:spPr>
          <a:xfrm>
            <a:off x="242887" y="395553"/>
            <a:ext cx="11706225" cy="538609"/>
          </a:xfrm>
          <a:prstGeom prst="rect">
            <a:avLst/>
          </a:prstGeom>
          <a:noFill/>
        </p:spPr>
        <p:txBody>
          <a:bodyPr wrap="square" lIns="0" tIns="0" rIns="0" bIns="0" anchor="t">
            <a:spAutoFit/>
          </a:bodyPr>
          <a:lstStyle/>
          <a:p>
            <a:pPr algn="ctr"/>
            <a:r>
              <a:rPr sz="3500" b="1" i="0" u="none" dirty="0">
                <a:solidFill>
                  <a:srgbClr val="0F172A"/>
                </a:solidFill>
              </a:rPr>
              <a:t>DATA </a:t>
            </a:r>
            <a:r>
              <a:rPr sz="3500" b="1" i="0" u="none" dirty="0">
                <a:solidFill>
                  <a:srgbClr val="E50914"/>
                </a:solidFill>
              </a:rPr>
              <a:t>UNDERSTANDING</a:t>
            </a:r>
          </a:p>
        </p:txBody>
      </p:sp>
      <p:pic>
        <p:nvPicPr>
          <p:cNvPr id="6" name="Picture 5">
            <a:extLst>
              <a:ext uri="{FF2B5EF4-FFF2-40B4-BE49-F238E27FC236}">
                <a16:creationId xmlns:a16="http://schemas.microsoft.com/office/drawing/2014/main" id="{E9B7ACAA-6272-5A9C-C09E-11EB51F76480}"/>
              </a:ext>
            </a:extLst>
          </p:cNvPr>
          <p:cNvPicPr>
            <a:picLocks noChangeAspect="1"/>
          </p:cNvPicPr>
          <p:nvPr/>
        </p:nvPicPr>
        <p:blipFill>
          <a:blip r:embed="rId3"/>
          <a:stretch>
            <a:fillRect/>
          </a:stretch>
        </p:blipFill>
        <p:spPr>
          <a:xfrm>
            <a:off x="372475" y="1324326"/>
            <a:ext cx="3534268" cy="3236384"/>
          </a:xfrm>
          <a:prstGeom prst="rect">
            <a:avLst/>
          </a:prstGeom>
          <a:ln>
            <a:solidFill>
              <a:srgbClr val="DC143C"/>
            </a:solidFill>
          </a:ln>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AC9DE6D4-1780-FCB0-D675-D29946C406E1}"/>
              </a:ext>
            </a:extLst>
          </p:cNvPr>
          <p:cNvPicPr>
            <a:picLocks noChangeAspect="1"/>
          </p:cNvPicPr>
          <p:nvPr/>
        </p:nvPicPr>
        <p:blipFill>
          <a:blip r:embed="rId4"/>
          <a:stretch>
            <a:fillRect/>
          </a:stretch>
        </p:blipFill>
        <p:spPr>
          <a:xfrm>
            <a:off x="4190858" y="1324326"/>
            <a:ext cx="2370955" cy="3236384"/>
          </a:xfrm>
          <a:prstGeom prst="rect">
            <a:avLst/>
          </a:prstGeom>
          <a:ln>
            <a:solidFill>
              <a:srgbClr val="DC143C"/>
            </a:solidFill>
          </a:ln>
          <a:effectLst>
            <a:outerShdw blurRad="50800" dist="38100" dir="5400000" algn="t" rotWithShape="0">
              <a:prstClr val="black">
                <a:alpha val="40000"/>
              </a:prstClr>
            </a:outerShdw>
          </a:effectLst>
        </p:spPr>
      </p:pic>
      <p:pic>
        <p:nvPicPr>
          <p:cNvPr id="10" name="Picture 9">
            <a:extLst>
              <a:ext uri="{FF2B5EF4-FFF2-40B4-BE49-F238E27FC236}">
                <a16:creationId xmlns:a16="http://schemas.microsoft.com/office/drawing/2014/main" id="{3EECE5EB-A1AF-08A3-863B-DC8636D63C00}"/>
              </a:ext>
            </a:extLst>
          </p:cNvPr>
          <p:cNvPicPr>
            <a:picLocks noChangeAspect="1"/>
          </p:cNvPicPr>
          <p:nvPr/>
        </p:nvPicPr>
        <p:blipFill>
          <a:blip r:embed="rId5"/>
          <a:stretch>
            <a:fillRect/>
          </a:stretch>
        </p:blipFill>
        <p:spPr>
          <a:xfrm>
            <a:off x="657764" y="5184833"/>
            <a:ext cx="5438236" cy="1380314"/>
          </a:xfrm>
          <a:prstGeom prst="rect">
            <a:avLst/>
          </a:prstGeom>
          <a:ln>
            <a:solidFill>
              <a:srgbClr val="DC143C"/>
            </a:solidFill>
          </a:ln>
          <a:effectLst>
            <a:outerShdw blurRad="50800" dist="38100" dir="5400000" algn="t" rotWithShape="0">
              <a:prstClr val="black">
                <a:alpha val="40000"/>
              </a:prstClr>
            </a:outerShdw>
          </a:effectLst>
        </p:spPr>
      </p:pic>
      <p:sp>
        <p:nvSpPr>
          <p:cNvPr id="14" name="Rectangle: Rounded Corners 13">
            <a:extLst>
              <a:ext uri="{FF2B5EF4-FFF2-40B4-BE49-F238E27FC236}">
                <a16:creationId xmlns:a16="http://schemas.microsoft.com/office/drawing/2014/main" id="{A519EF8E-D176-D9BB-5789-BA8F9D715883}"/>
              </a:ext>
            </a:extLst>
          </p:cNvPr>
          <p:cNvSpPr/>
          <p:nvPr/>
        </p:nvSpPr>
        <p:spPr>
          <a:xfrm>
            <a:off x="7157215" y="1397305"/>
            <a:ext cx="4662310" cy="113543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700" b="1" dirty="0">
              <a:solidFill>
                <a:schemeClr val="tx1">
                  <a:lumMod val="95000"/>
                  <a:lumOff val="5000"/>
                </a:schemeClr>
              </a:solidFill>
            </a:endParaRPr>
          </a:p>
          <a:p>
            <a:pPr algn="ctr"/>
            <a:r>
              <a:rPr lang="en-US" sz="1700" b="1" dirty="0">
                <a:solidFill>
                  <a:schemeClr val="tx1">
                    <a:lumMod val="95000"/>
                    <a:lumOff val="5000"/>
                  </a:schemeClr>
                </a:solidFill>
              </a:rPr>
              <a:t>In this data, </a:t>
            </a:r>
            <a:r>
              <a:rPr lang="en-IN" sz="1700" b="1" dirty="0">
                <a:solidFill>
                  <a:schemeClr val="tx1">
                    <a:lumMod val="95000"/>
                    <a:lumOff val="5000"/>
                  </a:schemeClr>
                </a:solidFill>
              </a:rPr>
              <a:t>w</a:t>
            </a:r>
            <a:r>
              <a:rPr lang="en-IN" sz="1700" b="1" dirty="0"/>
              <a:t>e can see that the dataset contains 7,789 rows, with missing values found in Director, Cast, Country, </a:t>
            </a:r>
            <a:r>
              <a:rPr lang="en-IN" sz="1700" b="1" dirty="0" err="1"/>
              <a:t>Release_Date</a:t>
            </a:r>
            <a:r>
              <a:rPr lang="en-IN" sz="1700" b="1" dirty="0"/>
              <a:t>, and Rating.</a:t>
            </a:r>
            <a:endParaRPr lang="en-US" sz="1700" b="1" dirty="0">
              <a:solidFill>
                <a:schemeClr val="tx1">
                  <a:lumMod val="95000"/>
                  <a:lumOff val="5000"/>
                </a:schemeClr>
              </a:solidFill>
            </a:endParaRPr>
          </a:p>
          <a:p>
            <a:pPr algn="ctr"/>
            <a:endParaRPr lang="en-IN" dirty="0"/>
          </a:p>
        </p:txBody>
      </p:sp>
      <p:pic>
        <p:nvPicPr>
          <p:cNvPr id="16" name="Picture 15" descr="image.png">
            <a:extLst>
              <a:ext uri="{FF2B5EF4-FFF2-40B4-BE49-F238E27FC236}">
                <a16:creationId xmlns:a16="http://schemas.microsoft.com/office/drawing/2014/main" id="{50B6C6A5-2A6E-5681-A42C-BAC4597D4529}"/>
              </a:ext>
            </a:extLst>
          </p:cNvPr>
          <p:cNvPicPr>
            <a:picLocks noChangeAspect="1"/>
          </p:cNvPicPr>
          <p:nvPr/>
        </p:nvPicPr>
        <p:blipFill>
          <a:blip r:embed="rId6"/>
          <a:stretch>
            <a:fillRect/>
          </a:stretch>
        </p:blipFill>
        <p:spPr>
          <a:xfrm>
            <a:off x="9349096" y="2619507"/>
            <a:ext cx="302361" cy="376380"/>
          </a:xfrm>
          <a:prstGeom prst="rect">
            <a:avLst/>
          </a:prstGeom>
        </p:spPr>
      </p:pic>
      <p:sp>
        <p:nvSpPr>
          <p:cNvPr id="18" name="Rectangle: Rounded Corners 17">
            <a:extLst>
              <a:ext uri="{FF2B5EF4-FFF2-40B4-BE49-F238E27FC236}">
                <a16:creationId xmlns:a16="http://schemas.microsoft.com/office/drawing/2014/main" id="{BB9DB7EE-EAB8-7D7C-1704-68B01ABDF050}"/>
              </a:ext>
            </a:extLst>
          </p:cNvPr>
          <p:cNvSpPr/>
          <p:nvPr/>
        </p:nvSpPr>
        <p:spPr>
          <a:xfrm>
            <a:off x="7169121" y="3039831"/>
            <a:ext cx="4662309" cy="99085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700" b="1" dirty="0"/>
              <a:t>We observed that the </a:t>
            </a:r>
            <a:r>
              <a:rPr lang="en-IN" sz="1700" b="1" dirty="0" err="1"/>
              <a:t>Release_Date</a:t>
            </a:r>
            <a:r>
              <a:rPr lang="en-IN" sz="1700" b="1" dirty="0"/>
              <a:t> column is stored as an object (string) data type instead of datetime.</a:t>
            </a:r>
          </a:p>
        </p:txBody>
      </p:sp>
      <p:pic>
        <p:nvPicPr>
          <p:cNvPr id="20" name="Picture 19" descr="image.png">
            <a:extLst>
              <a:ext uri="{FF2B5EF4-FFF2-40B4-BE49-F238E27FC236}">
                <a16:creationId xmlns:a16="http://schemas.microsoft.com/office/drawing/2014/main" id="{6179EED3-87DE-1A83-BC28-3A7F99D04185}"/>
              </a:ext>
            </a:extLst>
          </p:cNvPr>
          <p:cNvPicPr>
            <a:picLocks noChangeAspect="1"/>
          </p:cNvPicPr>
          <p:nvPr/>
        </p:nvPicPr>
        <p:blipFill>
          <a:blip r:embed="rId6"/>
          <a:stretch>
            <a:fillRect/>
          </a:stretch>
        </p:blipFill>
        <p:spPr>
          <a:xfrm>
            <a:off x="9349094" y="4079886"/>
            <a:ext cx="302361" cy="380560"/>
          </a:xfrm>
          <a:prstGeom prst="rect">
            <a:avLst/>
          </a:prstGeom>
        </p:spPr>
      </p:pic>
      <p:sp>
        <p:nvSpPr>
          <p:cNvPr id="22" name="Rectangle: Rounded Corners 21">
            <a:extLst>
              <a:ext uri="{FF2B5EF4-FFF2-40B4-BE49-F238E27FC236}">
                <a16:creationId xmlns:a16="http://schemas.microsoft.com/office/drawing/2014/main" id="{A7DBE62A-815F-AA40-9DFB-18B06E9C0622}"/>
              </a:ext>
            </a:extLst>
          </p:cNvPr>
          <p:cNvSpPr/>
          <p:nvPr/>
        </p:nvSpPr>
        <p:spPr>
          <a:xfrm>
            <a:off x="7157215" y="4507242"/>
            <a:ext cx="4662310" cy="69471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700" b="1" dirty="0"/>
              <a:t>We checked the count of missing values present in the data.</a:t>
            </a:r>
          </a:p>
        </p:txBody>
      </p:sp>
      <p:pic>
        <p:nvPicPr>
          <p:cNvPr id="24" name="Picture 23" descr="image.png">
            <a:extLst>
              <a:ext uri="{FF2B5EF4-FFF2-40B4-BE49-F238E27FC236}">
                <a16:creationId xmlns:a16="http://schemas.microsoft.com/office/drawing/2014/main" id="{EEC24B39-13AE-8A55-2753-F81CC5629FCC}"/>
              </a:ext>
            </a:extLst>
          </p:cNvPr>
          <p:cNvPicPr>
            <a:picLocks noChangeAspect="1"/>
          </p:cNvPicPr>
          <p:nvPr/>
        </p:nvPicPr>
        <p:blipFill>
          <a:blip r:embed="rId6"/>
          <a:stretch>
            <a:fillRect/>
          </a:stretch>
        </p:blipFill>
        <p:spPr>
          <a:xfrm>
            <a:off x="9337188" y="5267578"/>
            <a:ext cx="302361" cy="410936"/>
          </a:xfrm>
          <a:prstGeom prst="rect">
            <a:avLst/>
          </a:prstGeom>
        </p:spPr>
      </p:pic>
      <p:sp>
        <p:nvSpPr>
          <p:cNvPr id="28" name="Rectangle: Rounded Corners 27">
            <a:extLst>
              <a:ext uri="{FF2B5EF4-FFF2-40B4-BE49-F238E27FC236}">
                <a16:creationId xmlns:a16="http://schemas.microsoft.com/office/drawing/2014/main" id="{45B7E1F1-3D05-72FA-599E-8BF60B4B1679}"/>
              </a:ext>
            </a:extLst>
          </p:cNvPr>
          <p:cNvSpPr/>
          <p:nvPr/>
        </p:nvSpPr>
        <p:spPr>
          <a:xfrm>
            <a:off x="7157215" y="5733323"/>
            <a:ext cx="4662309" cy="69471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700" b="1" dirty="0"/>
              <a:t>We found that there are 2 duplicate rows in the dataset that need to be removed.</a:t>
            </a:r>
          </a:p>
        </p:txBody>
      </p:sp>
    </p:spTree>
  </p:cSld>
  <p:clrMapOvr>
    <a:masterClrMapping/>
  </p:clrMapOvr>
  <p:transition>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hatGPT Image Aug 30, 2026, 02_14_51 AM.png"/>
          <p:cNvPicPr>
            <a:picLocks noChangeAspect="1"/>
          </p:cNvPicPr>
          <p:nvPr/>
        </p:nvPicPr>
        <p:blipFill>
          <a:blip r:embed="rId2"/>
          <a:stretch>
            <a:fillRect/>
          </a:stretch>
        </p:blipFill>
        <p:spPr>
          <a:xfrm>
            <a:off x="0" y="0"/>
            <a:ext cx="12191999" cy="6858000"/>
          </a:xfrm>
          <a:prstGeom prst="rect">
            <a:avLst/>
          </a:prstGeom>
        </p:spPr>
      </p:pic>
      <p:sp>
        <p:nvSpPr>
          <p:cNvPr id="4" name="TextBox 3">
            <a:extLst>
              <a:ext uri="{FF2B5EF4-FFF2-40B4-BE49-F238E27FC236}">
                <a16:creationId xmlns:a16="http://schemas.microsoft.com/office/drawing/2014/main" id="{5DC801DB-07E3-73DD-6D50-F85001E919BC}"/>
              </a:ext>
            </a:extLst>
          </p:cNvPr>
          <p:cNvSpPr txBox="1"/>
          <p:nvPr/>
        </p:nvSpPr>
        <p:spPr>
          <a:xfrm>
            <a:off x="0" y="708277"/>
            <a:ext cx="11706225" cy="538609"/>
          </a:xfrm>
          <a:prstGeom prst="rect">
            <a:avLst/>
          </a:prstGeom>
          <a:noFill/>
        </p:spPr>
        <p:txBody>
          <a:bodyPr wrap="square" lIns="0" tIns="0" rIns="0" bIns="0" anchor="t">
            <a:spAutoFit/>
          </a:bodyPr>
          <a:lstStyle/>
          <a:p>
            <a:pPr algn="ctr"/>
            <a:r>
              <a:rPr sz="3500" b="1" i="0" u="none" dirty="0">
                <a:solidFill>
                  <a:srgbClr val="0F172A"/>
                </a:solidFill>
              </a:rPr>
              <a:t>DATA</a:t>
            </a:r>
            <a:r>
              <a:rPr lang="en-IN" sz="3500" b="1" dirty="0">
                <a:solidFill>
                  <a:srgbClr val="0F172A"/>
                </a:solidFill>
              </a:rPr>
              <a:t> </a:t>
            </a:r>
            <a:r>
              <a:rPr lang="en-IN" sz="3500" b="1" dirty="0">
                <a:solidFill>
                  <a:srgbClr val="FF0000"/>
                </a:solidFill>
              </a:rPr>
              <a:t>CLEANING</a:t>
            </a:r>
            <a:endParaRPr sz="3500" b="1" i="0" u="none" dirty="0">
              <a:solidFill>
                <a:srgbClr val="FF0000"/>
              </a:solidFill>
            </a:endParaRPr>
          </a:p>
        </p:txBody>
      </p:sp>
      <p:sp>
        <p:nvSpPr>
          <p:cNvPr id="6" name="TextBox 5">
            <a:extLst>
              <a:ext uri="{FF2B5EF4-FFF2-40B4-BE49-F238E27FC236}">
                <a16:creationId xmlns:a16="http://schemas.microsoft.com/office/drawing/2014/main" id="{CF0CBF14-BF0D-FAAB-5F91-F24538199A5B}"/>
              </a:ext>
            </a:extLst>
          </p:cNvPr>
          <p:cNvSpPr txBox="1"/>
          <p:nvPr/>
        </p:nvSpPr>
        <p:spPr>
          <a:xfrm>
            <a:off x="296421" y="1819696"/>
            <a:ext cx="11599156" cy="2677656"/>
          </a:xfrm>
          <a:prstGeom prst="rect">
            <a:avLst/>
          </a:prstGeom>
          <a:noFill/>
        </p:spPr>
        <p:txBody>
          <a:bodyPr wrap="square" rtlCol="0">
            <a:spAutoFit/>
          </a:bodyPr>
          <a:lstStyle/>
          <a:p>
            <a:pPr marL="285750" indent="-285750">
              <a:buFont typeface="Wingdings" panose="05000000000000000000" pitchFamily="2" charset="2"/>
              <a:buChar char="v"/>
            </a:pPr>
            <a:r>
              <a:rPr lang="en-US" sz="2400" b="1" dirty="0">
                <a:solidFill>
                  <a:schemeClr val="tx1">
                    <a:lumMod val="95000"/>
                    <a:lumOff val="5000"/>
                  </a:schemeClr>
                </a:solidFill>
              </a:rPr>
              <a:t> We have replaced the missing values of the Director ,Cast, and Country columns with unknown.</a:t>
            </a:r>
          </a:p>
          <a:p>
            <a:pPr marL="285750" indent="-285750">
              <a:buFont typeface="Wingdings" panose="05000000000000000000" pitchFamily="2" charset="2"/>
              <a:buChar char="v"/>
            </a:pPr>
            <a:r>
              <a:rPr lang="en-US" sz="2400" b="1" dirty="0">
                <a:solidFill>
                  <a:schemeClr val="tx1">
                    <a:lumMod val="95000"/>
                    <a:lumOff val="5000"/>
                  </a:schemeClr>
                </a:solidFill>
              </a:rPr>
              <a:t> we have converted the data type of Release_Date column to ‘Datetime’ format.</a:t>
            </a:r>
          </a:p>
          <a:p>
            <a:pPr marL="285750" indent="-285750">
              <a:buFont typeface="Wingdings" panose="05000000000000000000" pitchFamily="2" charset="2"/>
              <a:buChar char="v"/>
            </a:pPr>
            <a:r>
              <a:rPr lang="en-US" sz="2400" b="1" dirty="0">
                <a:solidFill>
                  <a:schemeClr val="tx1">
                    <a:lumMod val="95000"/>
                    <a:lumOff val="5000"/>
                  </a:schemeClr>
                </a:solidFill>
              </a:rPr>
              <a:t> We have removed duplicate rows to ensure data accuracy. </a:t>
            </a:r>
          </a:p>
          <a:p>
            <a:pPr marL="285750" indent="-285750">
              <a:buFont typeface="Wingdings" panose="05000000000000000000" pitchFamily="2" charset="2"/>
              <a:buChar char="v"/>
            </a:pPr>
            <a:r>
              <a:rPr lang="en-US" sz="2400" b="1" dirty="0">
                <a:solidFill>
                  <a:schemeClr val="tx1">
                    <a:lumMod val="95000"/>
                    <a:lumOff val="5000"/>
                  </a:schemeClr>
                </a:solidFill>
              </a:rPr>
              <a:t> We have extracted another column ‘year’ for our business insight requirement.</a:t>
            </a:r>
          </a:p>
          <a:p>
            <a:pPr marL="285750" indent="-285750">
              <a:buFont typeface="Wingdings" panose="05000000000000000000" pitchFamily="2" charset="2"/>
              <a:buChar char="v"/>
            </a:pPr>
            <a:r>
              <a:rPr lang="en-US" sz="2400" b="1" dirty="0">
                <a:solidFill>
                  <a:schemeClr val="tx1">
                    <a:lumMod val="95000"/>
                    <a:lumOff val="5000"/>
                  </a:schemeClr>
                </a:solidFill>
              </a:rPr>
              <a:t> And lastly, we have deleted the null values of the columns (</a:t>
            </a:r>
            <a:r>
              <a:rPr lang="en-US" sz="2400" b="1" dirty="0" err="1">
                <a:solidFill>
                  <a:schemeClr val="tx1">
                    <a:lumMod val="95000"/>
                    <a:lumOff val="5000"/>
                  </a:schemeClr>
                </a:solidFill>
              </a:rPr>
              <a:t>Release_Date</a:t>
            </a:r>
            <a:r>
              <a:rPr lang="en-US" sz="2400" b="1" dirty="0">
                <a:solidFill>
                  <a:schemeClr val="tx1">
                    <a:lumMod val="95000"/>
                    <a:lumOff val="5000"/>
                  </a:schemeClr>
                </a:solidFill>
              </a:rPr>
              <a:t>) and (Rating) as there are in a small numbers.</a:t>
            </a:r>
          </a:p>
        </p:txBody>
      </p:sp>
    </p:spTree>
  </p:cSld>
  <p:clrMapOvr>
    <a:masterClrMapping/>
  </p:clrMapOvr>
  <p:transition>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hatGPT Image Aug 30, 2026, 02_14_51 AM.png"/>
          <p:cNvPicPr>
            <a:picLocks noChangeAspect="1"/>
          </p:cNvPicPr>
          <p:nvPr/>
        </p:nvPicPr>
        <p:blipFill>
          <a:blip r:embed="rId2"/>
          <a:stretch>
            <a:fillRect/>
          </a:stretch>
        </p:blipFill>
        <p:spPr>
          <a:xfrm>
            <a:off x="0" y="-33944"/>
            <a:ext cx="12191999" cy="6891944"/>
          </a:xfrm>
          <a:prstGeom prst="rect">
            <a:avLst/>
          </a:prstGeom>
        </p:spPr>
      </p:pic>
      <p:sp>
        <p:nvSpPr>
          <p:cNvPr id="4" name="TextBox 3">
            <a:extLst>
              <a:ext uri="{FF2B5EF4-FFF2-40B4-BE49-F238E27FC236}">
                <a16:creationId xmlns:a16="http://schemas.microsoft.com/office/drawing/2014/main" id="{C25F4579-A1F2-8BF1-D497-87898861B382}"/>
              </a:ext>
            </a:extLst>
          </p:cNvPr>
          <p:cNvSpPr txBox="1"/>
          <p:nvPr/>
        </p:nvSpPr>
        <p:spPr>
          <a:xfrm>
            <a:off x="0" y="685700"/>
            <a:ext cx="11706225" cy="538609"/>
          </a:xfrm>
          <a:prstGeom prst="rect">
            <a:avLst/>
          </a:prstGeom>
          <a:noFill/>
        </p:spPr>
        <p:txBody>
          <a:bodyPr wrap="square" lIns="0" tIns="0" rIns="0" bIns="0" anchor="t">
            <a:spAutoFit/>
          </a:bodyPr>
          <a:lstStyle/>
          <a:p>
            <a:pPr algn="ctr"/>
            <a:r>
              <a:rPr lang="en-IN" sz="3500" b="1" dirty="0"/>
              <a:t>FINAL </a:t>
            </a:r>
            <a:r>
              <a:rPr lang="en-IN" sz="3500" b="1" dirty="0">
                <a:solidFill>
                  <a:srgbClr val="FF0000"/>
                </a:solidFill>
              </a:rPr>
              <a:t>DATA</a:t>
            </a:r>
            <a:endParaRPr sz="3500" b="1" i="0" u="none" dirty="0">
              <a:solidFill>
                <a:srgbClr val="FF0000"/>
              </a:solidFill>
            </a:endParaRPr>
          </a:p>
        </p:txBody>
      </p:sp>
      <p:pic>
        <p:nvPicPr>
          <p:cNvPr id="6" name="Picture 5">
            <a:extLst>
              <a:ext uri="{FF2B5EF4-FFF2-40B4-BE49-F238E27FC236}">
                <a16:creationId xmlns:a16="http://schemas.microsoft.com/office/drawing/2014/main" id="{E545816C-60C1-C848-ED76-46D68E5C0A35}"/>
              </a:ext>
            </a:extLst>
          </p:cNvPr>
          <p:cNvPicPr>
            <a:picLocks noChangeAspect="1"/>
          </p:cNvPicPr>
          <p:nvPr/>
        </p:nvPicPr>
        <p:blipFill>
          <a:blip r:embed="rId3"/>
          <a:stretch>
            <a:fillRect/>
          </a:stretch>
        </p:blipFill>
        <p:spPr>
          <a:xfrm>
            <a:off x="547046" y="1614234"/>
            <a:ext cx="4623265" cy="3629532"/>
          </a:xfrm>
          <a:prstGeom prst="rect">
            <a:avLst/>
          </a:prstGeom>
          <a:ln>
            <a:solidFill>
              <a:srgbClr val="C00000"/>
            </a:solidFill>
          </a:ln>
          <a:effectLst>
            <a:outerShdw blurRad="50800" dist="38100" dir="5400000" algn="t" rotWithShape="0">
              <a:prstClr val="black">
                <a:alpha val="40000"/>
              </a:prstClr>
            </a:outerShdw>
          </a:effectLst>
        </p:spPr>
      </p:pic>
      <p:sp>
        <p:nvSpPr>
          <p:cNvPr id="8" name="TextBox 7">
            <a:extLst>
              <a:ext uri="{FF2B5EF4-FFF2-40B4-BE49-F238E27FC236}">
                <a16:creationId xmlns:a16="http://schemas.microsoft.com/office/drawing/2014/main" id="{05655642-B5DF-2668-F022-70C04CC2E487}"/>
              </a:ext>
            </a:extLst>
          </p:cNvPr>
          <p:cNvSpPr txBox="1"/>
          <p:nvPr/>
        </p:nvSpPr>
        <p:spPr>
          <a:xfrm>
            <a:off x="5717357" y="2471494"/>
            <a:ext cx="5677078" cy="1631216"/>
          </a:xfrm>
          <a:prstGeom prst="rect">
            <a:avLst/>
          </a:prstGeom>
          <a:noFill/>
        </p:spPr>
        <p:txBody>
          <a:bodyPr wrap="square" rtlCol="0">
            <a:spAutoFit/>
          </a:bodyPr>
          <a:lstStyle/>
          <a:p>
            <a:r>
              <a:rPr lang="en-US" sz="2500" b="1" dirty="0"/>
              <a:t>Here ,</a:t>
            </a:r>
            <a:r>
              <a:rPr lang="en-IN" sz="2500" dirty="0"/>
              <a:t> </a:t>
            </a:r>
            <a:r>
              <a:rPr lang="en-IN" sz="2500" b="1" dirty="0"/>
              <a:t>we finalized the cleaned data with 7,770 valid records, completely free of missing values and duplicates, and ready for analysis.</a:t>
            </a:r>
            <a:endParaRPr lang="en-US" sz="2500" b="1" dirty="0"/>
          </a:p>
        </p:txBody>
      </p:sp>
    </p:spTree>
  </p:cSld>
  <p:clrMapOvr>
    <a:masterClrMapping/>
  </p:clrMapOvr>
  <p:transition>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tGPT Image Aug 30, 2026, 02_14_51 AM.png">
            <a:extLst>
              <a:ext uri="{FF2B5EF4-FFF2-40B4-BE49-F238E27FC236}">
                <a16:creationId xmlns:a16="http://schemas.microsoft.com/office/drawing/2014/main" id="{6F427009-1BAC-256E-E1C7-1603C4231C49}"/>
              </a:ext>
            </a:extLst>
          </p:cNvPr>
          <p:cNvPicPr>
            <a:picLocks noChangeAspect="1"/>
          </p:cNvPicPr>
          <p:nvPr/>
        </p:nvPicPr>
        <p:blipFill>
          <a:blip r:embed="rId2"/>
          <a:stretch>
            <a:fillRect/>
          </a:stretch>
        </p:blipFill>
        <p:spPr>
          <a:xfrm>
            <a:off x="-1" y="0"/>
            <a:ext cx="12191999" cy="6858000"/>
          </a:xfrm>
          <a:prstGeom prst="rect">
            <a:avLst/>
          </a:prstGeom>
        </p:spPr>
      </p:pic>
      <p:sp>
        <p:nvSpPr>
          <p:cNvPr id="5" name="TextBox 4">
            <a:extLst>
              <a:ext uri="{FF2B5EF4-FFF2-40B4-BE49-F238E27FC236}">
                <a16:creationId xmlns:a16="http://schemas.microsoft.com/office/drawing/2014/main" id="{53B503E8-0C84-E3EA-C343-614A050D0733}"/>
              </a:ext>
            </a:extLst>
          </p:cNvPr>
          <p:cNvSpPr txBox="1"/>
          <p:nvPr/>
        </p:nvSpPr>
        <p:spPr>
          <a:xfrm>
            <a:off x="474483" y="1112177"/>
            <a:ext cx="11220450" cy="369332"/>
          </a:xfrm>
          <a:prstGeom prst="rect">
            <a:avLst/>
          </a:prstGeom>
          <a:noFill/>
        </p:spPr>
        <p:txBody>
          <a:bodyPr wrap="square" lIns="0" tIns="0" rIns="0" bIns="0" anchor="ctr">
            <a:spAutoFit/>
          </a:bodyPr>
          <a:lstStyle/>
          <a:p>
            <a:pPr algn="l"/>
            <a:r>
              <a:rPr lang="en-US" sz="2400" b="1" i="0" u="none" dirty="0">
                <a:latin typeface="Plus Jakarta Sans ExtraBold"/>
              </a:rPr>
              <a:t>Category Wise Distribution</a:t>
            </a:r>
            <a:endParaRPr sz="2400" b="1" i="0" u="none" dirty="0">
              <a:latin typeface="Plus Jakarta Sans ExtraBold"/>
            </a:endParaRPr>
          </a:p>
        </p:txBody>
      </p:sp>
      <p:pic>
        <p:nvPicPr>
          <p:cNvPr id="7" name="Picture 6">
            <a:extLst>
              <a:ext uri="{FF2B5EF4-FFF2-40B4-BE49-F238E27FC236}">
                <a16:creationId xmlns:a16="http://schemas.microsoft.com/office/drawing/2014/main" id="{1B412A5E-D24B-DF1A-7433-89D87C97F77B}"/>
              </a:ext>
            </a:extLst>
          </p:cNvPr>
          <p:cNvPicPr>
            <a:picLocks noChangeAspect="1"/>
          </p:cNvPicPr>
          <p:nvPr/>
        </p:nvPicPr>
        <p:blipFill>
          <a:blip r:embed="rId3"/>
          <a:stretch>
            <a:fillRect/>
          </a:stretch>
        </p:blipFill>
        <p:spPr>
          <a:xfrm>
            <a:off x="474483" y="1759266"/>
            <a:ext cx="5350584" cy="4383690"/>
          </a:xfrm>
          <a:prstGeom prst="rect">
            <a:avLst/>
          </a:prstGeom>
          <a:ln>
            <a:solidFill>
              <a:srgbClr val="C00000"/>
            </a:solidFill>
          </a:ln>
          <a:effectLst>
            <a:outerShdw blurRad="50800" dist="38100" dir="5400000" algn="t" rotWithShape="0">
              <a:prstClr val="black">
                <a:alpha val="40000"/>
              </a:prstClr>
            </a:outerShdw>
          </a:effectLst>
        </p:spPr>
      </p:pic>
      <p:sp>
        <p:nvSpPr>
          <p:cNvPr id="8" name="Rectangle: Rounded Corners 7">
            <a:extLst>
              <a:ext uri="{FF2B5EF4-FFF2-40B4-BE49-F238E27FC236}">
                <a16:creationId xmlns:a16="http://schemas.microsoft.com/office/drawing/2014/main" id="{D5ECF860-E2F5-9245-C9CA-303CE865EE7A}"/>
              </a:ext>
            </a:extLst>
          </p:cNvPr>
          <p:cNvSpPr/>
          <p:nvPr/>
        </p:nvSpPr>
        <p:spPr>
          <a:xfrm>
            <a:off x="6728178" y="2312984"/>
            <a:ext cx="4560711" cy="135590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sz="1670" b="1" dirty="0">
              <a:solidFill>
                <a:srgbClr val="FF0000"/>
              </a:solidFill>
            </a:endParaRPr>
          </a:p>
          <a:p>
            <a:pPr algn="ctr"/>
            <a:r>
              <a:rPr lang="en-IN" sz="1670" b="1" dirty="0">
                <a:solidFill>
                  <a:srgbClr val="FF0000"/>
                </a:solidFill>
              </a:rPr>
              <a:t>Movie Volume Dominance</a:t>
            </a:r>
          </a:p>
          <a:p>
            <a:pPr marL="285750" lvl="0" indent="-285750">
              <a:buFont typeface="Courier New" panose="02070309020205020404" pitchFamily="49" charset="0"/>
              <a:buChar char="o"/>
            </a:pPr>
            <a:r>
              <a:rPr lang="en-IN" sz="1600" b="1" dirty="0"/>
              <a:t>Movies comprise 69.1% of the catalogue, serving as the core driver for standalone, casual streaming.</a:t>
            </a:r>
          </a:p>
          <a:p>
            <a:pPr algn="ctr"/>
            <a:endParaRPr lang="en-IN" dirty="0"/>
          </a:p>
        </p:txBody>
      </p:sp>
      <p:sp>
        <p:nvSpPr>
          <p:cNvPr id="9" name="Rectangle: Rounded Corners 8">
            <a:extLst>
              <a:ext uri="{FF2B5EF4-FFF2-40B4-BE49-F238E27FC236}">
                <a16:creationId xmlns:a16="http://schemas.microsoft.com/office/drawing/2014/main" id="{BADCF582-9EA5-E37D-A586-7DFB8780CD32}"/>
              </a:ext>
            </a:extLst>
          </p:cNvPr>
          <p:cNvSpPr/>
          <p:nvPr/>
        </p:nvSpPr>
        <p:spPr>
          <a:xfrm>
            <a:off x="6728177" y="4131734"/>
            <a:ext cx="4560711" cy="135590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670" b="1" dirty="0">
                <a:solidFill>
                  <a:srgbClr val="FF0000"/>
                </a:solidFill>
              </a:rPr>
              <a:t>TV Show Retention Value</a:t>
            </a:r>
            <a:endParaRPr lang="en-IN" sz="1670" dirty="0">
              <a:solidFill>
                <a:srgbClr val="FF0000"/>
              </a:solidFill>
            </a:endParaRPr>
          </a:p>
          <a:p>
            <a:pPr marL="285750" lvl="0" indent="-285750">
              <a:buFont typeface="Courier New" panose="02070309020205020404" pitchFamily="49" charset="0"/>
              <a:buChar char="o"/>
            </a:pPr>
            <a:r>
              <a:rPr lang="en-IN" sz="1600" b="1" dirty="0"/>
              <a:t>TV Shows account for 30.9% of titles, driving multi-episode binge viewing and long-term retention.</a:t>
            </a:r>
          </a:p>
        </p:txBody>
      </p:sp>
      <p:pic>
        <p:nvPicPr>
          <p:cNvPr id="11" name="Picture 10" descr="image.png">
            <a:extLst>
              <a:ext uri="{FF2B5EF4-FFF2-40B4-BE49-F238E27FC236}">
                <a16:creationId xmlns:a16="http://schemas.microsoft.com/office/drawing/2014/main" id="{8904AD89-F533-D2C1-A388-60A3C71D4D31}"/>
              </a:ext>
            </a:extLst>
          </p:cNvPr>
          <p:cNvPicPr>
            <a:picLocks noChangeAspect="1"/>
          </p:cNvPicPr>
          <p:nvPr/>
        </p:nvPicPr>
        <p:blipFill>
          <a:blip r:embed="rId4"/>
          <a:stretch>
            <a:fillRect/>
          </a:stretch>
        </p:blipFill>
        <p:spPr>
          <a:xfrm>
            <a:off x="7589386" y="1688986"/>
            <a:ext cx="271258" cy="312974"/>
          </a:xfrm>
          <a:prstGeom prst="rect">
            <a:avLst/>
          </a:prstGeom>
        </p:spPr>
      </p:pic>
      <p:sp>
        <p:nvSpPr>
          <p:cNvPr id="13" name="TextBox 12">
            <a:extLst>
              <a:ext uri="{FF2B5EF4-FFF2-40B4-BE49-F238E27FC236}">
                <a16:creationId xmlns:a16="http://schemas.microsoft.com/office/drawing/2014/main" id="{8703C3EC-AF21-CA70-810B-3C6841B1133A}"/>
              </a:ext>
            </a:extLst>
          </p:cNvPr>
          <p:cNvSpPr txBox="1"/>
          <p:nvPr/>
        </p:nvSpPr>
        <p:spPr>
          <a:xfrm>
            <a:off x="7984822" y="1726910"/>
            <a:ext cx="2521182" cy="276999"/>
          </a:xfrm>
          <a:prstGeom prst="rect">
            <a:avLst/>
          </a:prstGeom>
          <a:noFill/>
        </p:spPr>
        <p:txBody>
          <a:bodyPr wrap="square" lIns="0" tIns="0" rIns="0" bIns="0" anchor="ctr">
            <a:spAutoFit/>
          </a:bodyPr>
          <a:lstStyle/>
          <a:p>
            <a:pPr algn="l"/>
            <a:r>
              <a:rPr b="1" i="0" u="none" dirty="0">
                <a:latin typeface="Plus Jakarta Sans ExtraBold"/>
              </a:rPr>
              <a:t>KEY BUSINESS INSIGHTS</a:t>
            </a:r>
          </a:p>
        </p:txBody>
      </p:sp>
      <p:sp>
        <p:nvSpPr>
          <p:cNvPr id="4" name="TextBox 3">
            <a:extLst>
              <a:ext uri="{FF2B5EF4-FFF2-40B4-BE49-F238E27FC236}">
                <a16:creationId xmlns:a16="http://schemas.microsoft.com/office/drawing/2014/main" id="{AA1EA9E9-27A0-E1AD-B1D3-2601C5E231EC}"/>
              </a:ext>
            </a:extLst>
          </p:cNvPr>
          <p:cNvSpPr txBox="1"/>
          <p:nvPr/>
        </p:nvSpPr>
        <p:spPr>
          <a:xfrm>
            <a:off x="-28046" y="404015"/>
            <a:ext cx="11706225" cy="538609"/>
          </a:xfrm>
          <a:prstGeom prst="rect">
            <a:avLst/>
          </a:prstGeom>
          <a:noFill/>
        </p:spPr>
        <p:txBody>
          <a:bodyPr wrap="square" lIns="0" tIns="0" rIns="0" bIns="0" anchor="t">
            <a:spAutoFit/>
          </a:bodyPr>
          <a:lstStyle/>
          <a:p>
            <a:pPr algn="ctr"/>
            <a:r>
              <a:rPr lang="en-IN" sz="3500" b="1" dirty="0"/>
              <a:t>BUSINESS </a:t>
            </a:r>
            <a:r>
              <a:rPr lang="en-IN" sz="3500" b="1" dirty="0">
                <a:solidFill>
                  <a:srgbClr val="FF0000"/>
                </a:solidFill>
              </a:rPr>
              <a:t>INSIGHTS</a:t>
            </a:r>
            <a:endParaRPr sz="3500" b="1" i="0" u="none" dirty="0">
              <a:solidFill>
                <a:srgbClr val="FF0000"/>
              </a:solidFill>
            </a:endParaRPr>
          </a:p>
        </p:txBody>
      </p:sp>
    </p:spTree>
    <p:extLst>
      <p:ext uri="{BB962C8B-B14F-4D97-AF65-F5344CB8AC3E}">
        <p14:creationId xmlns:p14="http://schemas.microsoft.com/office/powerpoint/2010/main" val="4143656095"/>
      </p:ext>
    </p:extLst>
  </p:cSld>
  <p:clrMapOvr>
    <a:masterClrMapping/>
  </p:clrMapOvr>
  <p:transition>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tGPT Image Aug 30, 2026, 02_14_51 AM.png">
            <a:extLst>
              <a:ext uri="{FF2B5EF4-FFF2-40B4-BE49-F238E27FC236}">
                <a16:creationId xmlns:a16="http://schemas.microsoft.com/office/drawing/2014/main" id="{7C5A2845-971B-7B86-1C81-14D35E620350}"/>
              </a:ext>
            </a:extLst>
          </p:cNvPr>
          <p:cNvPicPr>
            <a:picLocks noChangeAspect="1"/>
          </p:cNvPicPr>
          <p:nvPr/>
        </p:nvPicPr>
        <p:blipFill>
          <a:blip r:embed="rId3"/>
          <a:stretch>
            <a:fillRect/>
          </a:stretch>
        </p:blipFill>
        <p:spPr>
          <a:xfrm>
            <a:off x="1" y="0"/>
            <a:ext cx="12191999" cy="6858000"/>
          </a:xfrm>
          <a:prstGeom prst="rect">
            <a:avLst/>
          </a:prstGeom>
        </p:spPr>
      </p:pic>
      <p:sp>
        <p:nvSpPr>
          <p:cNvPr id="9" name="TextBox 8">
            <a:extLst>
              <a:ext uri="{FF2B5EF4-FFF2-40B4-BE49-F238E27FC236}">
                <a16:creationId xmlns:a16="http://schemas.microsoft.com/office/drawing/2014/main" id="{CC29BF79-8E6C-00B5-7B01-D55FFEF6D794}"/>
              </a:ext>
            </a:extLst>
          </p:cNvPr>
          <p:cNvSpPr txBox="1"/>
          <p:nvPr/>
        </p:nvSpPr>
        <p:spPr>
          <a:xfrm>
            <a:off x="485775" y="1102038"/>
            <a:ext cx="11220450" cy="369332"/>
          </a:xfrm>
          <a:prstGeom prst="rect">
            <a:avLst/>
          </a:prstGeom>
          <a:noFill/>
        </p:spPr>
        <p:txBody>
          <a:bodyPr wrap="square" lIns="0" tIns="0" rIns="0" bIns="0" anchor="ctr">
            <a:spAutoFit/>
          </a:bodyPr>
          <a:lstStyle/>
          <a:p>
            <a:pPr algn="l"/>
            <a:r>
              <a:rPr sz="2400" b="1" i="0" u="none" dirty="0">
                <a:latin typeface="Plus Jakarta Sans ExtraBold"/>
              </a:rPr>
              <a:t>Top 10 Most Featured </a:t>
            </a:r>
            <a:r>
              <a:rPr lang="en-IN" sz="2400" b="1" dirty="0">
                <a:latin typeface="Plus Jakarta Sans ExtraBold"/>
              </a:rPr>
              <a:t>Directors</a:t>
            </a:r>
            <a:r>
              <a:rPr sz="2400" b="1" i="0" u="none" dirty="0">
                <a:latin typeface="Plus Jakarta Sans ExtraBold"/>
              </a:rPr>
              <a:t> on Netflix</a:t>
            </a:r>
          </a:p>
        </p:txBody>
      </p:sp>
      <p:pic>
        <p:nvPicPr>
          <p:cNvPr id="11" name="Picture 10" descr="image.png">
            <a:extLst>
              <a:ext uri="{FF2B5EF4-FFF2-40B4-BE49-F238E27FC236}">
                <a16:creationId xmlns:a16="http://schemas.microsoft.com/office/drawing/2014/main" id="{0575AE80-0805-DAEB-4914-6A6D206CEF06}"/>
              </a:ext>
            </a:extLst>
          </p:cNvPr>
          <p:cNvPicPr>
            <a:picLocks noChangeAspect="1"/>
          </p:cNvPicPr>
          <p:nvPr/>
        </p:nvPicPr>
        <p:blipFill>
          <a:blip r:embed="rId4"/>
          <a:stretch>
            <a:fillRect/>
          </a:stretch>
        </p:blipFill>
        <p:spPr>
          <a:xfrm>
            <a:off x="7890070" y="1668590"/>
            <a:ext cx="271258" cy="312974"/>
          </a:xfrm>
          <a:prstGeom prst="rect">
            <a:avLst/>
          </a:prstGeom>
        </p:spPr>
      </p:pic>
      <p:sp>
        <p:nvSpPr>
          <p:cNvPr id="15" name="TextBox 14">
            <a:extLst>
              <a:ext uri="{FF2B5EF4-FFF2-40B4-BE49-F238E27FC236}">
                <a16:creationId xmlns:a16="http://schemas.microsoft.com/office/drawing/2014/main" id="{DDA89C8C-7BD6-5428-0A38-240870161EDD}"/>
              </a:ext>
            </a:extLst>
          </p:cNvPr>
          <p:cNvSpPr txBox="1"/>
          <p:nvPr/>
        </p:nvSpPr>
        <p:spPr>
          <a:xfrm>
            <a:off x="8282283" y="1706575"/>
            <a:ext cx="2351849" cy="276999"/>
          </a:xfrm>
          <a:prstGeom prst="rect">
            <a:avLst/>
          </a:prstGeom>
          <a:noFill/>
        </p:spPr>
        <p:txBody>
          <a:bodyPr wrap="square" lIns="0" tIns="0" rIns="0" bIns="0" anchor="ctr">
            <a:spAutoFit/>
          </a:bodyPr>
          <a:lstStyle/>
          <a:p>
            <a:pPr algn="l"/>
            <a:r>
              <a:rPr b="1" i="0" u="none" dirty="0">
                <a:latin typeface="Plus Jakarta Sans ExtraBold"/>
              </a:rPr>
              <a:t>KEY BUSINESS INSIGHTS</a:t>
            </a:r>
          </a:p>
        </p:txBody>
      </p:sp>
      <p:sp>
        <p:nvSpPr>
          <p:cNvPr id="19" name="Rectangle: Rounded Corners 18">
            <a:extLst>
              <a:ext uri="{FF2B5EF4-FFF2-40B4-BE49-F238E27FC236}">
                <a16:creationId xmlns:a16="http://schemas.microsoft.com/office/drawing/2014/main" id="{AF6E6D76-5B24-C0F4-6A9F-AEF913AD0759}"/>
              </a:ext>
            </a:extLst>
          </p:cNvPr>
          <p:cNvSpPr/>
          <p:nvPr/>
        </p:nvSpPr>
        <p:spPr>
          <a:xfrm>
            <a:off x="6533318" y="2451975"/>
            <a:ext cx="5458073" cy="137495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700" b="1" dirty="0">
              <a:solidFill>
                <a:schemeClr val="tx1">
                  <a:lumMod val="95000"/>
                  <a:lumOff val="5000"/>
                </a:schemeClr>
              </a:solidFill>
            </a:endParaRPr>
          </a:p>
          <a:p>
            <a:pPr algn="ctr"/>
            <a:endParaRPr lang="en-IN" sz="1670" b="1" dirty="0">
              <a:solidFill>
                <a:srgbClr val="FF0000"/>
              </a:solidFill>
            </a:endParaRPr>
          </a:p>
          <a:p>
            <a:pPr algn="ctr"/>
            <a:r>
              <a:rPr lang="en-IN" sz="1670" b="1" dirty="0">
                <a:solidFill>
                  <a:srgbClr val="FF0000"/>
                </a:solidFill>
              </a:rPr>
              <a:t>Stand-Up Comedy &amp; Specials Lead the Top Ranks</a:t>
            </a:r>
            <a:endParaRPr lang="en-IN" sz="1670" dirty="0">
              <a:solidFill>
                <a:srgbClr val="FF0000"/>
              </a:solidFill>
            </a:endParaRPr>
          </a:p>
          <a:p>
            <a:pPr marL="285750" lvl="0" indent="-285750">
              <a:buFont typeface="Courier New" panose="02070309020205020404" pitchFamily="49" charset="0"/>
              <a:buChar char="o"/>
            </a:pPr>
            <a:r>
              <a:rPr lang="en-IN" sz="1600" b="1" dirty="0"/>
              <a:t>Jan Suter (21), Raúl Campos (19), and Marcus Raboy (16) top the list because Netflix produces and releases comedy specials at a rapid pace</a:t>
            </a:r>
            <a:r>
              <a:rPr lang="en-IN" sz="1600" dirty="0"/>
              <a:t>.</a:t>
            </a:r>
          </a:p>
          <a:p>
            <a:pPr algn="ctr"/>
            <a:r>
              <a:rPr lang="en-IN" sz="1450" b="1" dirty="0"/>
              <a:t>.</a:t>
            </a:r>
          </a:p>
          <a:p>
            <a:pPr algn="ctr"/>
            <a:endParaRPr lang="en-IN" dirty="0"/>
          </a:p>
        </p:txBody>
      </p:sp>
      <p:sp>
        <p:nvSpPr>
          <p:cNvPr id="26" name="Rectangle: Rounded Corners 25">
            <a:extLst>
              <a:ext uri="{FF2B5EF4-FFF2-40B4-BE49-F238E27FC236}">
                <a16:creationId xmlns:a16="http://schemas.microsoft.com/office/drawing/2014/main" id="{6625B443-4D1C-7F9D-F491-3DDFA39A33CC}"/>
              </a:ext>
            </a:extLst>
          </p:cNvPr>
          <p:cNvSpPr/>
          <p:nvPr/>
        </p:nvSpPr>
        <p:spPr>
          <a:xfrm>
            <a:off x="6506580" y="4297344"/>
            <a:ext cx="5458073" cy="17535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670" b="1" dirty="0">
                <a:solidFill>
                  <a:srgbClr val="FF0000"/>
                </a:solidFill>
              </a:rPr>
              <a:t>Global Cinema &amp; Hollywood Legends Add Depth</a:t>
            </a:r>
            <a:endParaRPr lang="en-IN" sz="1670" dirty="0">
              <a:solidFill>
                <a:srgbClr val="FF0000"/>
              </a:solidFill>
            </a:endParaRPr>
          </a:p>
          <a:p>
            <a:pPr marL="285750" lvl="0" indent="-285750">
              <a:buFont typeface="Courier New" panose="02070309020205020404" pitchFamily="49" charset="0"/>
              <a:buChar char="o"/>
            </a:pPr>
            <a:r>
              <a:rPr lang="en-IN" sz="1600" b="1" dirty="0"/>
              <a:t>International directors like Cathy Garcia-Molina (13) alongside iconic Hollywood filmmakers like Martin Scorsese (12) and Steven Spielberg (10) provide a strong mix of global cinema and high-value classic films.</a:t>
            </a:r>
          </a:p>
          <a:p>
            <a:pPr algn="ctr"/>
            <a:endParaRPr lang="en-IN" dirty="0"/>
          </a:p>
        </p:txBody>
      </p:sp>
      <p:pic>
        <p:nvPicPr>
          <p:cNvPr id="30" name="Picture 29">
            <a:extLst>
              <a:ext uri="{FF2B5EF4-FFF2-40B4-BE49-F238E27FC236}">
                <a16:creationId xmlns:a16="http://schemas.microsoft.com/office/drawing/2014/main" id="{4FA69957-D42E-A4FE-7DDE-02157A2C1336}"/>
              </a:ext>
            </a:extLst>
          </p:cNvPr>
          <p:cNvPicPr>
            <a:picLocks noChangeAspect="1"/>
          </p:cNvPicPr>
          <p:nvPr/>
        </p:nvPicPr>
        <p:blipFill>
          <a:blip r:embed="rId5"/>
          <a:stretch>
            <a:fillRect/>
          </a:stretch>
        </p:blipFill>
        <p:spPr>
          <a:xfrm>
            <a:off x="227347" y="1981564"/>
            <a:ext cx="5789631" cy="4543414"/>
          </a:xfrm>
          <a:prstGeom prst="rect">
            <a:avLst/>
          </a:prstGeom>
          <a:ln>
            <a:solidFill>
              <a:srgbClr val="C00000"/>
            </a:solid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440267025"/>
      </p:ext>
    </p:extLst>
  </p:cSld>
  <p:clrMapOvr>
    <a:masterClrMapping/>
  </p:clrMapOvr>
  <p:transition>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tGPT Image Aug 30, 2026, 02_14_51 AM.png">
            <a:extLst>
              <a:ext uri="{FF2B5EF4-FFF2-40B4-BE49-F238E27FC236}">
                <a16:creationId xmlns:a16="http://schemas.microsoft.com/office/drawing/2014/main" id="{65F0AC62-A10E-2834-EC8F-9DE985183495}"/>
              </a:ext>
            </a:extLst>
          </p:cNvPr>
          <p:cNvPicPr>
            <a:picLocks noChangeAspect="1"/>
          </p:cNvPicPr>
          <p:nvPr/>
        </p:nvPicPr>
        <p:blipFill>
          <a:blip r:embed="rId2"/>
          <a:stretch>
            <a:fillRect/>
          </a:stretch>
        </p:blipFill>
        <p:spPr>
          <a:xfrm>
            <a:off x="-27784" y="0"/>
            <a:ext cx="12191999" cy="6858000"/>
          </a:xfrm>
          <a:prstGeom prst="rect">
            <a:avLst/>
          </a:prstGeom>
        </p:spPr>
      </p:pic>
      <p:sp>
        <p:nvSpPr>
          <p:cNvPr id="5" name="TextBox 4">
            <a:extLst>
              <a:ext uri="{FF2B5EF4-FFF2-40B4-BE49-F238E27FC236}">
                <a16:creationId xmlns:a16="http://schemas.microsoft.com/office/drawing/2014/main" id="{DC1A7650-9593-8BD8-2E83-2E3D3550079A}"/>
              </a:ext>
            </a:extLst>
          </p:cNvPr>
          <p:cNvSpPr txBox="1"/>
          <p:nvPr/>
        </p:nvSpPr>
        <p:spPr>
          <a:xfrm>
            <a:off x="485772" y="1022625"/>
            <a:ext cx="11220450" cy="369332"/>
          </a:xfrm>
          <a:prstGeom prst="rect">
            <a:avLst/>
          </a:prstGeom>
          <a:noFill/>
        </p:spPr>
        <p:txBody>
          <a:bodyPr wrap="square" lIns="0" tIns="0" rIns="0" bIns="0" anchor="ctr">
            <a:spAutoFit/>
          </a:bodyPr>
          <a:lstStyle/>
          <a:p>
            <a:pPr algn="l"/>
            <a:r>
              <a:rPr sz="2400" b="1" i="0" u="none" dirty="0">
                <a:latin typeface="Plus Jakarta Sans ExtraBold"/>
              </a:rPr>
              <a:t>Top 10 Most Featured </a:t>
            </a:r>
            <a:r>
              <a:rPr lang="en-IN" sz="2400" b="1" i="0" u="none" dirty="0">
                <a:latin typeface="Plus Jakarta Sans ExtraBold"/>
              </a:rPr>
              <a:t>Actors </a:t>
            </a:r>
            <a:r>
              <a:rPr sz="2400" b="1" i="0" u="none" dirty="0">
                <a:latin typeface="Plus Jakarta Sans ExtraBold"/>
              </a:rPr>
              <a:t>on Netflix</a:t>
            </a:r>
          </a:p>
        </p:txBody>
      </p:sp>
      <p:sp>
        <p:nvSpPr>
          <p:cNvPr id="8" name="Rectangle: Rounded Corners 7">
            <a:extLst>
              <a:ext uri="{FF2B5EF4-FFF2-40B4-BE49-F238E27FC236}">
                <a16:creationId xmlns:a16="http://schemas.microsoft.com/office/drawing/2014/main" id="{19CCF170-43F7-C9D3-FCFA-284E34F1772B}"/>
              </a:ext>
            </a:extLst>
          </p:cNvPr>
          <p:cNvSpPr/>
          <p:nvPr/>
        </p:nvSpPr>
        <p:spPr>
          <a:xfrm>
            <a:off x="7482107" y="2324950"/>
            <a:ext cx="4131378" cy="214612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endParaRPr lang="en-IN" sz="1600" b="1" dirty="0"/>
          </a:p>
          <a:p>
            <a:pPr algn="ctr"/>
            <a:r>
              <a:rPr lang="en-IN" sz="1670" b="1" dirty="0">
                <a:solidFill>
                  <a:srgbClr val="FF0000"/>
                </a:solidFill>
              </a:rPr>
              <a:t>Indian Cinema Dominance</a:t>
            </a:r>
            <a:endParaRPr lang="en-IN" sz="1670" dirty="0">
              <a:solidFill>
                <a:srgbClr val="FF0000"/>
              </a:solidFill>
            </a:endParaRPr>
          </a:p>
          <a:p>
            <a:pPr marL="285750" lvl="0" indent="-285750">
              <a:buFont typeface="Courier New" panose="02070309020205020404" pitchFamily="49" charset="0"/>
              <a:buChar char="o"/>
            </a:pPr>
            <a:r>
              <a:rPr lang="en-IN" sz="1600" b="1" dirty="0"/>
              <a:t>Anupam Kher (42) and Shah Rukh Khan (35) lead alongside Bollywood icons Om Puri (30), Naseeruddin Shah (30), Akshay Kumar (29), Boman Irani (27), Amitabh Bachchan (27), and Paresh Rawal (27) to drive massive South Asian library depth.</a:t>
            </a:r>
          </a:p>
          <a:p>
            <a:pPr algn="ctr"/>
            <a:r>
              <a:rPr lang="en-IN" sz="1500" b="1" dirty="0"/>
              <a:t>.</a:t>
            </a:r>
          </a:p>
          <a:p>
            <a:pPr algn="ctr"/>
            <a:endParaRPr lang="en-IN" dirty="0"/>
          </a:p>
        </p:txBody>
      </p:sp>
      <p:pic>
        <p:nvPicPr>
          <p:cNvPr id="10" name="Picture 9">
            <a:extLst>
              <a:ext uri="{FF2B5EF4-FFF2-40B4-BE49-F238E27FC236}">
                <a16:creationId xmlns:a16="http://schemas.microsoft.com/office/drawing/2014/main" id="{12682054-FF7E-B2DD-FE6A-4670B115DFFE}"/>
              </a:ext>
            </a:extLst>
          </p:cNvPr>
          <p:cNvPicPr>
            <a:picLocks noChangeAspect="1"/>
          </p:cNvPicPr>
          <p:nvPr/>
        </p:nvPicPr>
        <p:blipFill>
          <a:blip r:embed="rId3"/>
          <a:stretch>
            <a:fillRect/>
          </a:stretch>
        </p:blipFill>
        <p:spPr>
          <a:xfrm>
            <a:off x="291257" y="1670782"/>
            <a:ext cx="6640121" cy="4899351"/>
          </a:xfrm>
          <a:prstGeom prst="rect">
            <a:avLst/>
          </a:prstGeom>
          <a:ln>
            <a:solidFill>
              <a:srgbClr val="C00000"/>
            </a:solidFill>
          </a:ln>
          <a:effectLst>
            <a:outerShdw blurRad="50800" dist="38100" dir="5400000" algn="t" rotWithShape="0">
              <a:prstClr val="black">
                <a:alpha val="40000"/>
              </a:prstClr>
            </a:outerShdw>
          </a:effectLst>
        </p:spPr>
      </p:pic>
      <p:sp>
        <p:nvSpPr>
          <p:cNvPr id="16" name="Rectangle: Rounded Corners 15">
            <a:extLst>
              <a:ext uri="{FF2B5EF4-FFF2-40B4-BE49-F238E27FC236}">
                <a16:creationId xmlns:a16="http://schemas.microsoft.com/office/drawing/2014/main" id="{5D5448CC-467E-EEEB-2271-5CD60C5826CB}"/>
              </a:ext>
            </a:extLst>
          </p:cNvPr>
          <p:cNvSpPr/>
          <p:nvPr/>
        </p:nvSpPr>
        <p:spPr>
          <a:xfrm>
            <a:off x="7482107" y="4799076"/>
            <a:ext cx="4131378" cy="157043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endParaRPr lang="en-IN" sz="1600" b="1" dirty="0"/>
          </a:p>
          <a:p>
            <a:pPr algn="ctr"/>
            <a:r>
              <a:rPr lang="en-IN" sz="1670" b="1" dirty="0">
                <a:solidFill>
                  <a:srgbClr val="FF0000"/>
                </a:solidFill>
              </a:rPr>
              <a:t>Global Anime Presence</a:t>
            </a:r>
            <a:endParaRPr lang="en-IN" sz="1670" dirty="0">
              <a:solidFill>
                <a:srgbClr val="FF0000"/>
              </a:solidFill>
            </a:endParaRPr>
          </a:p>
          <a:p>
            <a:pPr marL="285750" lvl="0" indent="-285750">
              <a:buFont typeface="Courier New" panose="02070309020205020404" pitchFamily="49" charset="0"/>
              <a:buChar char="o"/>
            </a:pPr>
            <a:r>
              <a:rPr lang="en-IN" sz="1600" b="1" dirty="0"/>
              <a:t>Japanese voice actors Takahiro Sakurai (29) and Yuki Kaji (27) claim key top-10 spots, highlighting high global subscriber demand for recurring animated series.</a:t>
            </a:r>
          </a:p>
          <a:p>
            <a:pPr algn="ctr"/>
            <a:endParaRPr lang="en-IN" dirty="0"/>
          </a:p>
        </p:txBody>
      </p:sp>
      <p:pic>
        <p:nvPicPr>
          <p:cNvPr id="18" name="Picture 17" descr="image.png">
            <a:extLst>
              <a:ext uri="{FF2B5EF4-FFF2-40B4-BE49-F238E27FC236}">
                <a16:creationId xmlns:a16="http://schemas.microsoft.com/office/drawing/2014/main" id="{DE493130-63B4-7D0B-47FF-809A8FFE4A13}"/>
              </a:ext>
            </a:extLst>
          </p:cNvPr>
          <p:cNvPicPr>
            <a:picLocks noChangeAspect="1"/>
          </p:cNvPicPr>
          <p:nvPr/>
        </p:nvPicPr>
        <p:blipFill>
          <a:blip r:embed="rId4"/>
          <a:stretch>
            <a:fillRect/>
          </a:stretch>
        </p:blipFill>
        <p:spPr>
          <a:xfrm>
            <a:off x="7999574" y="1668590"/>
            <a:ext cx="271258" cy="312974"/>
          </a:xfrm>
          <a:prstGeom prst="rect">
            <a:avLst/>
          </a:prstGeom>
        </p:spPr>
      </p:pic>
      <p:sp>
        <p:nvSpPr>
          <p:cNvPr id="20" name="TextBox 19">
            <a:extLst>
              <a:ext uri="{FF2B5EF4-FFF2-40B4-BE49-F238E27FC236}">
                <a16:creationId xmlns:a16="http://schemas.microsoft.com/office/drawing/2014/main" id="{840C5ACC-F9D5-2E64-EEA3-CFD83B066523}"/>
              </a:ext>
            </a:extLst>
          </p:cNvPr>
          <p:cNvSpPr txBox="1"/>
          <p:nvPr/>
        </p:nvSpPr>
        <p:spPr>
          <a:xfrm>
            <a:off x="8417751" y="1719954"/>
            <a:ext cx="2521182" cy="276999"/>
          </a:xfrm>
          <a:prstGeom prst="rect">
            <a:avLst/>
          </a:prstGeom>
          <a:noFill/>
        </p:spPr>
        <p:txBody>
          <a:bodyPr wrap="square" lIns="0" tIns="0" rIns="0" bIns="0" anchor="ctr">
            <a:spAutoFit/>
          </a:bodyPr>
          <a:lstStyle/>
          <a:p>
            <a:pPr algn="l"/>
            <a:r>
              <a:rPr b="1" i="0" u="none" dirty="0">
                <a:latin typeface="Plus Jakarta Sans ExtraBold"/>
              </a:rPr>
              <a:t>KEY BUSINESS INSIGHTS</a:t>
            </a:r>
          </a:p>
        </p:txBody>
      </p:sp>
    </p:spTree>
    <p:extLst>
      <p:ext uri="{BB962C8B-B14F-4D97-AF65-F5344CB8AC3E}">
        <p14:creationId xmlns:p14="http://schemas.microsoft.com/office/powerpoint/2010/main" val="1759442516"/>
      </p:ext>
    </p:extLst>
  </p:cSld>
  <p:clrMapOvr>
    <a:masterClrMapping/>
  </p:clrMapOvr>
  <p:transition>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tGPT Image Aug 30, 2026, 02_14_51 AM.png">
            <a:extLst>
              <a:ext uri="{FF2B5EF4-FFF2-40B4-BE49-F238E27FC236}">
                <a16:creationId xmlns:a16="http://schemas.microsoft.com/office/drawing/2014/main" id="{EBB8FD91-66B4-2FB2-6014-2621A5BAB7A5}"/>
              </a:ext>
            </a:extLst>
          </p:cNvPr>
          <p:cNvPicPr>
            <a:picLocks noChangeAspect="1"/>
          </p:cNvPicPr>
          <p:nvPr/>
        </p:nvPicPr>
        <p:blipFill>
          <a:blip r:embed="rId2"/>
          <a:stretch>
            <a:fillRect/>
          </a:stretch>
        </p:blipFill>
        <p:spPr>
          <a:xfrm>
            <a:off x="1" y="0"/>
            <a:ext cx="12191999" cy="6858000"/>
          </a:xfrm>
          <a:prstGeom prst="rect">
            <a:avLst/>
          </a:prstGeom>
        </p:spPr>
      </p:pic>
      <p:pic>
        <p:nvPicPr>
          <p:cNvPr id="5" name="Picture 4">
            <a:extLst>
              <a:ext uri="{FF2B5EF4-FFF2-40B4-BE49-F238E27FC236}">
                <a16:creationId xmlns:a16="http://schemas.microsoft.com/office/drawing/2014/main" id="{6527B755-BB77-13E6-D6D3-0B0E1B4E2357}"/>
              </a:ext>
            </a:extLst>
          </p:cNvPr>
          <p:cNvPicPr>
            <a:picLocks noChangeAspect="1"/>
          </p:cNvPicPr>
          <p:nvPr/>
        </p:nvPicPr>
        <p:blipFill>
          <a:blip r:embed="rId3"/>
          <a:stretch>
            <a:fillRect/>
          </a:stretch>
        </p:blipFill>
        <p:spPr>
          <a:xfrm>
            <a:off x="513570" y="1715603"/>
            <a:ext cx="6113008" cy="4594886"/>
          </a:xfrm>
          <a:prstGeom prst="rect">
            <a:avLst/>
          </a:prstGeom>
          <a:ln>
            <a:solidFill>
              <a:srgbClr val="C00000"/>
            </a:solidFill>
          </a:ln>
          <a:effectLst>
            <a:outerShdw blurRad="50800" dist="38100" dir="5400000" algn="t" rotWithShape="0">
              <a:prstClr val="black">
                <a:alpha val="40000"/>
              </a:prstClr>
            </a:outerShdw>
          </a:effectLst>
        </p:spPr>
      </p:pic>
      <p:sp>
        <p:nvSpPr>
          <p:cNvPr id="7" name="TextBox 6">
            <a:extLst>
              <a:ext uri="{FF2B5EF4-FFF2-40B4-BE49-F238E27FC236}">
                <a16:creationId xmlns:a16="http://schemas.microsoft.com/office/drawing/2014/main" id="{62F18ECB-37DE-9FCB-E559-AF66B3C87E33}"/>
              </a:ext>
            </a:extLst>
          </p:cNvPr>
          <p:cNvSpPr txBox="1"/>
          <p:nvPr/>
        </p:nvSpPr>
        <p:spPr>
          <a:xfrm>
            <a:off x="592592" y="836966"/>
            <a:ext cx="8382074" cy="461665"/>
          </a:xfrm>
          <a:prstGeom prst="rect">
            <a:avLst/>
          </a:prstGeom>
          <a:noFill/>
        </p:spPr>
        <p:txBody>
          <a:bodyPr wrap="square">
            <a:spAutoFit/>
          </a:bodyPr>
          <a:lstStyle/>
          <a:p>
            <a:r>
              <a:rPr lang="en-IN" sz="2400" b="1" dirty="0">
                <a:latin typeface="Plus Jakarta Sans ExtraBold"/>
              </a:rPr>
              <a:t>Year Wise Total Shows</a:t>
            </a:r>
          </a:p>
        </p:txBody>
      </p:sp>
      <p:sp>
        <p:nvSpPr>
          <p:cNvPr id="8" name="Rectangle: Rounded Corners 7">
            <a:extLst>
              <a:ext uri="{FF2B5EF4-FFF2-40B4-BE49-F238E27FC236}">
                <a16:creationId xmlns:a16="http://schemas.microsoft.com/office/drawing/2014/main" id="{CE395BC4-6294-0589-24AA-3BFF4033EF54}"/>
              </a:ext>
            </a:extLst>
          </p:cNvPr>
          <p:cNvSpPr/>
          <p:nvPr/>
        </p:nvSpPr>
        <p:spPr>
          <a:xfrm>
            <a:off x="7238963" y="2889955"/>
            <a:ext cx="4340652" cy="171591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dirty="0">
                <a:solidFill>
                  <a:srgbClr val="FF0000"/>
                </a:solidFill>
              </a:rPr>
              <a:t>Peak Additions in 2019</a:t>
            </a:r>
          </a:p>
          <a:p>
            <a:pPr marL="285750" indent="-285750">
              <a:buFont typeface="Courier New" panose="02070309020205020404" pitchFamily="49" charset="0"/>
              <a:buChar char="o"/>
            </a:pPr>
            <a:r>
              <a:rPr lang="en-IN" sz="1770" b="1" dirty="0"/>
              <a:t>Total content additions peaked in 2019 with over 2,100 titles before Netflix shifted focus toward producing original hits.</a:t>
            </a:r>
          </a:p>
        </p:txBody>
      </p:sp>
      <p:pic>
        <p:nvPicPr>
          <p:cNvPr id="10" name="Picture 9" descr="image.png">
            <a:extLst>
              <a:ext uri="{FF2B5EF4-FFF2-40B4-BE49-F238E27FC236}">
                <a16:creationId xmlns:a16="http://schemas.microsoft.com/office/drawing/2014/main" id="{692C93C3-6759-1591-92A7-C530E82B1850}"/>
              </a:ext>
            </a:extLst>
          </p:cNvPr>
          <p:cNvPicPr>
            <a:picLocks noChangeAspect="1"/>
          </p:cNvPicPr>
          <p:nvPr/>
        </p:nvPicPr>
        <p:blipFill>
          <a:blip r:embed="rId4"/>
          <a:stretch>
            <a:fillRect/>
          </a:stretch>
        </p:blipFill>
        <p:spPr>
          <a:xfrm>
            <a:off x="7724853" y="1688986"/>
            <a:ext cx="271258" cy="312974"/>
          </a:xfrm>
          <a:prstGeom prst="rect">
            <a:avLst/>
          </a:prstGeom>
        </p:spPr>
      </p:pic>
      <p:sp>
        <p:nvSpPr>
          <p:cNvPr id="12" name="TextBox 11">
            <a:extLst>
              <a:ext uri="{FF2B5EF4-FFF2-40B4-BE49-F238E27FC236}">
                <a16:creationId xmlns:a16="http://schemas.microsoft.com/office/drawing/2014/main" id="{F6163689-558C-9263-6B22-1A52AB5A484A}"/>
              </a:ext>
            </a:extLst>
          </p:cNvPr>
          <p:cNvSpPr txBox="1"/>
          <p:nvPr/>
        </p:nvSpPr>
        <p:spPr>
          <a:xfrm>
            <a:off x="8148698" y="1724961"/>
            <a:ext cx="2521182" cy="276999"/>
          </a:xfrm>
          <a:prstGeom prst="rect">
            <a:avLst/>
          </a:prstGeom>
          <a:noFill/>
        </p:spPr>
        <p:txBody>
          <a:bodyPr wrap="square" lIns="0" tIns="0" rIns="0" bIns="0" anchor="ctr">
            <a:spAutoFit/>
          </a:bodyPr>
          <a:lstStyle/>
          <a:p>
            <a:pPr algn="l"/>
            <a:r>
              <a:rPr b="1" i="0" u="none" dirty="0">
                <a:latin typeface="Plus Jakarta Sans ExtraBold"/>
              </a:rPr>
              <a:t>KEY BUSINESS INSIGHTS</a:t>
            </a:r>
          </a:p>
        </p:txBody>
      </p:sp>
    </p:spTree>
    <p:extLst>
      <p:ext uri="{BB962C8B-B14F-4D97-AF65-F5344CB8AC3E}">
        <p14:creationId xmlns:p14="http://schemas.microsoft.com/office/powerpoint/2010/main" val="2330302968"/>
      </p:ext>
    </p:extLst>
  </p:cSld>
  <p:clrMapOvr>
    <a:masterClrMapping/>
  </p:clrMapOvr>
  <p:transition>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tGPT Image Aug 30, 2026, 02_14_51 AM.png">
            <a:extLst>
              <a:ext uri="{FF2B5EF4-FFF2-40B4-BE49-F238E27FC236}">
                <a16:creationId xmlns:a16="http://schemas.microsoft.com/office/drawing/2014/main" id="{EF965D7C-B866-EFAB-9A23-EA42717D16B2}"/>
              </a:ext>
            </a:extLst>
          </p:cNvPr>
          <p:cNvPicPr>
            <a:picLocks noChangeAspect="1"/>
          </p:cNvPicPr>
          <p:nvPr/>
        </p:nvPicPr>
        <p:blipFill>
          <a:blip r:embed="rId2"/>
          <a:stretch>
            <a:fillRect/>
          </a:stretch>
        </p:blipFill>
        <p:spPr>
          <a:xfrm>
            <a:off x="1" y="0"/>
            <a:ext cx="12191999" cy="6858000"/>
          </a:xfrm>
          <a:prstGeom prst="rect">
            <a:avLst/>
          </a:prstGeom>
        </p:spPr>
      </p:pic>
      <p:sp>
        <p:nvSpPr>
          <p:cNvPr id="7" name="TextBox 6">
            <a:extLst>
              <a:ext uri="{FF2B5EF4-FFF2-40B4-BE49-F238E27FC236}">
                <a16:creationId xmlns:a16="http://schemas.microsoft.com/office/drawing/2014/main" id="{EF6F9564-567E-2130-C738-5A326A20FFFC}"/>
              </a:ext>
            </a:extLst>
          </p:cNvPr>
          <p:cNvSpPr txBox="1"/>
          <p:nvPr/>
        </p:nvSpPr>
        <p:spPr>
          <a:xfrm>
            <a:off x="688974" y="490648"/>
            <a:ext cx="11220450" cy="738664"/>
          </a:xfrm>
          <a:prstGeom prst="rect">
            <a:avLst/>
          </a:prstGeom>
          <a:noFill/>
        </p:spPr>
        <p:txBody>
          <a:bodyPr wrap="square" lIns="0" tIns="0" rIns="0" bIns="0" anchor="ctr">
            <a:spAutoFit/>
          </a:bodyPr>
          <a:lstStyle/>
          <a:p>
            <a:r>
              <a:rPr lang="en-IN" sz="2400" b="1" dirty="0">
                <a:latin typeface="Plus Jakarta Sans ExtraBold"/>
              </a:rPr>
              <a:t>Yearly Content Growth: Movies vs. TV Shows</a:t>
            </a:r>
          </a:p>
          <a:p>
            <a:pPr algn="l"/>
            <a:endParaRPr sz="2400" b="1" i="0" u="none" dirty="0">
              <a:latin typeface="Plus Jakarta Sans ExtraBold"/>
            </a:endParaRPr>
          </a:p>
        </p:txBody>
      </p:sp>
      <p:sp>
        <p:nvSpPr>
          <p:cNvPr id="12" name="Rectangle: Rounded Corners 11">
            <a:extLst>
              <a:ext uri="{FF2B5EF4-FFF2-40B4-BE49-F238E27FC236}">
                <a16:creationId xmlns:a16="http://schemas.microsoft.com/office/drawing/2014/main" id="{7A8CF525-8C45-EB90-8616-85A819DC1898}"/>
              </a:ext>
            </a:extLst>
          </p:cNvPr>
          <p:cNvSpPr/>
          <p:nvPr/>
        </p:nvSpPr>
        <p:spPr>
          <a:xfrm>
            <a:off x="7241821" y="1715912"/>
            <a:ext cx="4272846" cy="118204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670" b="1" dirty="0">
                <a:solidFill>
                  <a:srgbClr val="FF0000"/>
                </a:solidFill>
              </a:rPr>
              <a:t>Peak in 2019</a:t>
            </a:r>
          </a:p>
          <a:p>
            <a:pPr marL="285750" indent="-285750">
              <a:buFont typeface="Courier New" panose="02070309020205020404" pitchFamily="49" charset="0"/>
              <a:buChar char="o"/>
            </a:pPr>
            <a:r>
              <a:rPr lang="en-IN" sz="1600" b="1" dirty="0"/>
              <a:t>Movie additions grew rapidly from 2015 and hit a high of nearly 1,500 titles in 2019 before slowing down.</a:t>
            </a:r>
          </a:p>
        </p:txBody>
      </p:sp>
      <p:sp>
        <p:nvSpPr>
          <p:cNvPr id="14" name="Rectangle: Rounded Corners 13">
            <a:extLst>
              <a:ext uri="{FF2B5EF4-FFF2-40B4-BE49-F238E27FC236}">
                <a16:creationId xmlns:a16="http://schemas.microsoft.com/office/drawing/2014/main" id="{BD7660C1-3E73-00E5-38E5-E7C0578DAA85}"/>
              </a:ext>
            </a:extLst>
          </p:cNvPr>
          <p:cNvSpPr/>
          <p:nvPr/>
        </p:nvSpPr>
        <p:spPr>
          <a:xfrm>
            <a:off x="7205131" y="4717579"/>
            <a:ext cx="4272846" cy="128810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670" b="1" dirty="0">
                <a:solidFill>
                  <a:srgbClr val="FF0000"/>
                </a:solidFill>
              </a:rPr>
              <a:t>Steady Rise until 2020</a:t>
            </a:r>
            <a:r>
              <a:rPr lang="en-IN" sz="1670" dirty="0">
                <a:solidFill>
                  <a:srgbClr val="FF0000"/>
                </a:solidFill>
              </a:rPr>
              <a:t> </a:t>
            </a:r>
          </a:p>
          <a:p>
            <a:pPr marL="285750" indent="-285750">
              <a:buFont typeface="Courier New" panose="02070309020205020404" pitchFamily="49" charset="0"/>
              <a:buChar char="o"/>
            </a:pPr>
            <a:r>
              <a:rPr lang="en-IN" sz="1600" b="1" dirty="0"/>
              <a:t>TV shows saw consistent year-over-year growth, peaking in 2020 with around 700 new shows added.</a:t>
            </a:r>
          </a:p>
        </p:txBody>
      </p:sp>
      <p:sp>
        <p:nvSpPr>
          <p:cNvPr id="16" name="TextBox 15">
            <a:extLst>
              <a:ext uri="{FF2B5EF4-FFF2-40B4-BE49-F238E27FC236}">
                <a16:creationId xmlns:a16="http://schemas.microsoft.com/office/drawing/2014/main" id="{61583A80-5B2C-5675-D64D-67D7DB54589C}"/>
              </a:ext>
            </a:extLst>
          </p:cNvPr>
          <p:cNvSpPr txBox="1"/>
          <p:nvPr/>
        </p:nvSpPr>
        <p:spPr>
          <a:xfrm>
            <a:off x="8281939" y="1174728"/>
            <a:ext cx="2521182" cy="276999"/>
          </a:xfrm>
          <a:prstGeom prst="rect">
            <a:avLst/>
          </a:prstGeom>
          <a:noFill/>
        </p:spPr>
        <p:txBody>
          <a:bodyPr wrap="square" lIns="0" tIns="0" rIns="0" bIns="0" anchor="ctr">
            <a:spAutoFit/>
          </a:bodyPr>
          <a:lstStyle/>
          <a:p>
            <a:pPr algn="l"/>
            <a:r>
              <a:rPr b="1" i="0" u="none" dirty="0">
                <a:latin typeface="Plus Jakarta Sans ExtraBold"/>
              </a:rPr>
              <a:t>KEY BUSINESS INSIGHTS</a:t>
            </a:r>
          </a:p>
        </p:txBody>
      </p:sp>
      <p:pic>
        <p:nvPicPr>
          <p:cNvPr id="21" name="Picture 20" descr="image.png">
            <a:extLst>
              <a:ext uri="{FF2B5EF4-FFF2-40B4-BE49-F238E27FC236}">
                <a16:creationId xmlns:a16="http://schemas.microsoft.com/office/drawing/2014/main" id="{DB4FB3B1-8919-818C-01E8-916FB85A15CA}"/>
              </a:ext>
            </a:extLst>
          </p:cNvPr>
          <p:cNvPicPr>
            <a:picLocks noChangeAspect="1"/>
          </p:cNvPicPr>
          <p:nvPr/>
        </p:nvPicPr>
        <p:blipFill>
          <a:blip r:embed="rId3"/>
          <a:stretch>
            <a:fillRect/>
          </a:stretch>
        </p:blipFill>
        <p:spPr>
          <a:xfrm>
            <a:off x="7852446" y="1124165"/>
            <a:ext cx="271258" cy="312974"/>
          </a:xfrm>
          <a:prstGeom prst="rect">
            <a:avLst/>
          </a:prstGeom>
        </p:spPr>
      </p:pic>
      <p:pic>
        <p:nvPicPr>
          <p:cNvPr id="6" name="Picture 5">
            <a:extLst>
              <a:ext uri="{FF2B5EF4-FFF2-40B4-BE49-F238E27FC236}">
                <a16:creationId xmlns:a16="http://schemas.microsoft.com/office/drawing/2014/main" id="{0C2ECFD8-F2B1-D253-7E7B-2A3490D9A51B}"/>
              </a:ext>
            </a:extLst>
          </p:cNvPr>
          <p:cNvPicPr>
            <a:picLocks noChangeAspect="1"/>
          </p:cNvPicPr>
          <p:nvPr/>
        </p:nvPicPr>
        <p:blipFill>
          <a:blip r:embed="rId4"/>
          <a:stretch>
            <a:fillRect/>
          </a:stretch>
        </p:blipFill>
        <p:spPr>
          <a:xfrm>
            <a:off x="480577" y="1174728"/>
            <a:ext cx="6162131" cy="5118256"/>
          </a:xfrm>
          <a:prstGeom prst="rect">
            <a:avLst/>
          </a:prstGeom>
          <a:ln>
            <a:solidFill>
              <a:srgbClr val="C00000"/>
            </a:solid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952298712"/>
      </p:ext>
    </p:extLst>
  </p:cSld>
  <p:clrMapOvr>
    <a:masterClrMapping/>
  </p:clrMapOvr>
  <p:transition>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tGPT Image Aug 30, 2026, 02_14_51 AM.png">
            <a:extLst>
              <a:ext uri="{FF2B5EF4-FFF2-40B4-BE49-F238E27FC236}">
                <a16:creationId xmlns:a16="http://schemas.microsoft.com/office/drawing/2014/main" id="{921EAB78-0031-5FAB-09CF-9503F85A6317}"/>
              </a:ext>
            </a:extLst>
          </p:cNvPr>
          <p:cNvPicPr>
            <a:picLocks noChangeAspect="1"/>
          </p:cNvPicPr>
          <p:nvPr/>
        </p:nvPicPr>
        <p:blipFill>
          <a:blip r:embed="rId2"/>
          <a:stretch>
            <a:fillRect/>
          </a:stretch>
        </p:blipFill>
        <p:spPr>
          <a:xfrm>
            <a:off x="0" y="0"/>
            <a:ext cx="12191999" cy="6858000"/>
          </a:xfrm>
          <a:prstGeom prst="rect">
            <a:avLst/>
          </a:prstGeom>
        </p:spPr>
      </p:pic>
      <p:sp>
        <p:nvSpPr>
          <p:cNvPr id="5" name="TextBox 4">
            <a:extLst>
              <a:ext uri="{FF2B5EF4-FFF2-40B4-BE49-F238E27FC236}">
                <a16:creationId xmlns:a16="http://schemas.microsoft.com/office/drawing/2014/main" id="{6E36DD77-B584-9731-4EA5-7F898ABB8A4E}"/>
              </a:ext>
            </a:extLst>
          </p:cNvPr>
          <p:cNvSpPr txBox="1"/>
          <p:nvPr/>
        </p:nvSpPr>
        <p:spPr>
          <a:xfrm>
            <a:off x="553156" y="899067"/>
            <a:ext cx="6096000" cy="461665"/>
          </a:xfrm>
          <a:prstGeom prst="rect">
            <a:avLst/>
          </a:prstGeom>
          <a:noFill/>
        </p:spPr>
        <p:txBody>
          <a:bodyPr wrap="square">
            <a:spAutoFit/>
          </a:bodyPr>
          <a:lstStyle/>
          <a:p>
            <a:r>
              <a:rPr lang="en-IN" sz="2400" b="1" dirty="0">
                <a:latin typeface="Plus Jakarta Sans ExtraBold"/>
              </a:rPr>
              <a:t>Audience Wise Ratings</a:t>
            </a:r>
          </a:p>
        </p:txBody>
      </p:sp>
      <p:pic>
        <p:nvPicPr>
          <p:cNvPr id="7" name="Picture 6">
            <a:extLst>
              <a:ext uri="{FF2B5EF4-FFF2-40B4-BE49-F238E27FC236}">
                <a16:creationId xmlns:a16="http://schemas.microsoft.com/office/drawing/2014/main" id="{AD1CCF33-C79D-4827-7B90-3F08AF8B84FC}"/>
              </a:ext>
            </a:extLst>
          </p:cNvPr>
          <p:cNvPicPr>
            <a:picLocks noChangeAspect="1"/>
          </p:cNvPicPr>
          <p:nvPr/>
        </p:nvPicPr>
        <p:blipFill>
          <a:blip r:embed="rId3"/>
          <a:stretch>
            <a:fillRect/>
          </a:stretch>
        </p:blipFill>
        <p:spPr>
          <a:xfrm>
            <a:off x="553156" y="1750026"/>
            <a:ext cx="6096000" cy="4515480"/>
          </a:xfrm>
          <a:prstGeom prst="rect">
            <a:avLst/>
          </a:prstGeom>
          <a:ln>
            <a:solidFill>
              <a:srgbClr val="C00000"/>
            </a:solidFill>
          </a:ln>
          <a:effectLst>
            <a:outerShdw blurRad="50800" dist="38100" dir="5400000" algn="t" rotWithShape="0">
              <a:prstClr val="black">
                <a:alpha val="40000"/>
              </a:prstClr>
            </a:outerShdw>
          </a:effectLst>
        </p:spPr>
      </p:pic>
      <p:sp>
        <p:nvSpPr>
          <p:cNvPr id="8" name="Rectangle: Rounded Corners 7">
            <a:extLst>
              <a:ext uri="{FF2B5EF4-FFF2-40B4-BE49-F238E27FC236}">
                <a16:creationId xmlns:a16="http://schemas.microsoft.com/office/drawing/2014/main" id="{3427AEDC-9747-DD18-D6A0-863B80D2DF2F}"/>
              </a:ext>
            </a:extLst>
          </p:cNvPr>
          <p:cNvSpPr/>
          <p:nvPr/>
        </p:nvSpPr>
        <p:spPr>
          <a:xfrm>
            <a:off x="7202311" y="2359378"/>
            <a:ext cx="4041422" cy="110348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670" b="1" dirty="0">
                <a:solidFill>
                  <a:srgbClr val="FF0000"/>
                </a:solidFill>
              </a:rPr>
              <a:t>Targeted at Adults &amp; Teens</a:t>
            </a:r>
          </a:p>
          <a:p>
            <a:pPr marL="285750" indent="-285750">
              <a:buClr>
                <a:schemeClr val="tx1"/>
              </a:buClr>
              <a:buFont typeface="Courier New" panose="02070309020205020404" pitchFamily="49" charset="0"/>
              <a:buChar char="o"/>
            </a:pPr>
            <a:r>
              <a:rPr lang="en-IN" sz="1670" dirty="0">
                <a:solidFill>
                  <a:srgbClr val="FF0000"/>
                </a:solidFill>
              </a:rPr>
              <a:t> </a:t>
            </a:r>
            <a:r>
              <a:rPr lang="en-IN" sz="1600" b="1" dirty="0"/>
              <a:t>TV-MA and TV-14 are the biggest categories, showing Netflix focuses mostly on mature audiences.</a:t>
            </a:r>
          </a:p>
        </p:txBody>
      </p:sp>
      <p:sp>
        <p:nvSpPr>
          <p:cNvPr id="10" name="Rectangle: Rounded Corners 9">
            <a:extLst>
              <a:ext uri="{FF2B5EF4-FFF2-40B4-BE49-F238E27FC236}">
                <a16:creationId xmlns:a16="http://schemas.microsoft.com/office/drawing/2014/main" id="{DD79B9BF-5EB1-8E5C-4EF6-D30102C51B8B}"/>
              </a:ext>
            </a:extLst>
          </p:cNvPr>
          <p:cNvSpPr/>
          <p:nvPr/>
        </p:nvSpPr>
        <p:spPr>
          <a:xfrm>
            <a:off x="7202311" y="4453467"/>
            <a:ext cx="4041422" cy="119497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670" b="1" dirty="0">
                <a:solidFill>
                  <a:srgbClr val="FF0000"/>
                </a:solidFill>
              </a:rPr>
              <a:t>Fewer Kids Shows</a:t>
            </a:r>
          </a:p>
          <a:p>
            <a:pPr marL="285750" indent="-285750">
              <a:buFont typeface="Courier New" panose="02070309020205020404" pitchFamily="49" charset="0"/>
              <a:buChar char="o"/>
            </a:pPr>
            <a:r>
              <a:rPr lang="en-IN" sz="1600" b="1" dirty="0"/>
              <a:t>Pure children's and family ratings (like TV-Y and G) make up only a small share of the catalogue.</a:t>
            </a:r>
          </a:p>
        </p:txBody>
      </p:sp>
      <p:pic>
        <p:nvPicPr>
          <p:cNvPr id="12" name="Picture 11" descr="image.png">
            <a:extLst>
              <a:ext uri="{FF2B5EF4-FFF2-40B4-BE49-F238E27FC236}">
                <a16:creationId xmlns:a16="http://schemas.microsoft.com/office/drawing/2014/main" id="{F1FF7498-06FE-13BB-1D18-0B7B8FE85DD7}"/>
              </a:ext>
            </a:extLst>
          </p:cNvPr>
          <p:cNvPicPr>
            <a:picLocks noChangeAspect="1"/>
          </p:cNvPicPr>
          <p:nvPr/>
        </p:nvPicPr>
        <p:blipFill>
          <a:blip r:embed="rId4"/>
          <a:stretch>
            <a:fillRect/>
          </a:stretch>
        </p:blipFill>
        <p:spPr>
          <a:xfrm>
            <a:off x="7724853" y="1688986"/>
            <a:ext cx="271258" cy="312974"/>
          </a:xfrm>
          <a:prstGeom prst="rect">
            <a:avLst/>
          </a:prstGeom>
        </p:spPr>
      </p:pic>
      <p:sp>
        <p:nvSpPr>
          <p:cNvPr id="14" name="TextBox 13">
            <a:extLst>
              <a:ext uri="{FF2B5EF4-FFF2-40B4-BE49-F238E27FC236}">
                <a16:creationId xmlns:a16="http://schemas.microsoft.com/office/drawing/2014/main" id="{4242C849-6F39-4684-523C-5A1DC208ADE4}"/>
              </a:ext>
            </a:extLst>
          </p:cNvPr>
          <p:cNvSpPr txBox="1"/>
          <p:nvPr/>
        </p:nvSpPr>
        <p:spPr>
          <a:xfrm>
            <a:off x="8159987" y="1724961"/>
            <a:ext cx="2521182" cy="276999"/>
          </a:xfrm>
          <a:prstGeom prst="rect">
            <a:avLst/>
          </a:prstGeom>
          <a:noFill/>
        </p:spPr>
        <p:txBody>
          <a:bodyPr wrap="square" lIns="0" tIns="0" rIns="0" bIns="0" anchor="ctr">
            <a:spAutoFit/>
          </a:bodyPr>
          <a:lstStyle/>
          <a:p>
            <a:pPr algn="l"/>
            <a:r>
              <a:rPr b="1" i="0" u="none" dirty="0">
                <a:latin typeface="Plus Jakarta Sans ExtraBold"/>
              </a:rPr>
              <a:t>KEY BUSINESS INSIGHTS</a:t>
            </a:r>
          </a:p>
        </p:txBody>
      </p:sp>
    </p:spTree>
    <p:extLst>
      <p:ext uri="{BB962C8B-B14F-4D97-AF65-F5344CB8AC3E}">
        <p14:creationId xmlns:p14="http://schemas.microsoft.com/office/powerpoint/2010/main" val="1351128297"/>
      </p:ext>
    </p:extLst>
  </p:cSld>
  <p:clrMapOvr>
    <a:masterClrMapping/>
  </p:clrMapOvr>
  <p:transition>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tGPT Image Aug 30, 2026, 02_14_51 AM.png">
            <a:extLst>
              <a:ext uri="{FF2B5EF4-FFF2-40B4-BE49-F238E27FC236}">
                <a16:creationId xmlns:a16="http://schemas.microsoft.com/office/drawing/2014/main" id="{88132EFE-CA62-2E09-FC24-C19C0F0C36AB}"/>
              </a:ext>
            </a:extLst>
          </p:cNvPr>
          <p:cNvPicPr>
            <a:picLocks noChangeAspect="1"/>
          </p:cNvPicPr>
          <p:nvPr/>
        </p:nvPicPr>
        <p:blipFill>
          <a:blip r:embed="rId2"/>
          <a:stretch>
            <a:fillRect/>
          </a:stretch>
        </p:blipFill>
        <p:spPr>
          <a:xfrm>
            <a:off x="0" y="0"/>
            <a:ext cx="12191999" cy="6858000"/>
          </a:xfrm>
          <a:prstGeom prst="rect">
            <a:avLst/>
          </a:prstGeom>
        </p:spPr>
      </p:pic>
      <p:sp>
        <p:nvSpPr>
          <p:cNvPr id="5" name="TextBox 4">
            <a:extLst>
              <a:ext uri="{FF2B5EF4-FFF2-40B4-BE49-F238E27FC236}">
                <a16:creationId xmlns:a16="http://schemas.microsoft.com/office/drawing/2014/main" id="{6CEBD0EC-C2C6-62CD-3D35-A32144A4A744}"/>
              </a:ext>
            </a:extLst>
          </p:cNvPr>
          <p:cNvSpPr txBox="1"/>
          <p:nvPr/>
        </p:nvSpPr>
        <p:spPr>
          <a:xfrm>
            <a:off x="643466" y="920634"/>
            <a:ext cx="6096000" cy="461665"/>
          </a:xfrm>
          <a:prstGeom prst="rect">
            <a:avLst/>
          </a:prstGeom>
          <a:noFill/>
        </p:spPr>
        <p:txBody>
          <a:bodyPr wrap="square">
            <a:spAutoFit/>
          </a:bodyPr>
          <a:lstStyle/>
          <a:p>
            <a:r>
              <a:rPr lang="en-US" sz="2400" b="1" dirty="0">
                <a:latin typeface="Plus Jakarta Sans ExtraBold"/>
              </a:rPr>
              <a:t>Top 10 Overall Genres </a:t>
            </a:r>
            <a:endParaRPr lang="en-IN" sz="2400" b="1" dirty="0">
              <a:latin typeface="Plus Jakarta Sans ExtraBold"/>
            </a:endParaRPr>
          </a:p>
        </p:txBody>
      </p:sp>
      <p:pic>
        <p:nvPicPr>
          <p:cNvPr id="7" name="Picture 6">
            <a:extLst>
              <a:ext uri="{FF2B5EF4-FFF2-40B4-BE49-F238E27FC236}">
                <a16:creationId xmlns:a16="http://schemas.microsoft.com/office/drawing/2014/main" id="{EDC21D35-75D0-C1AD-153B-19731D32D71D}"/>
              </a:ext>
            </a:extLst>
          </p:cNvPr>
          <p:cNvPicPr>
            <a:picLocks noChangeAspect="1"/>
          </p:cNvPicPr>
          <p:nvPr/>
        </p:nvPicPr>
        <p:blipFill>
          <a:blip r:embed="rId3"/>
          <a:stretch>
            <a:fillRect/>
          </a:stretch>
        </p:blipFill>
        <p:spPr>
          <a:xfrm>
            <a:off x="553155" y="1699362"/>
            <a:ext cx="6276623" cy="4610743"/>
          </a:xfrm>
          <a:prstGeom prst="rect">
            <a:avLst/>
          </a:prstGeom>
          <a:ln>
            <a:solidFill>
              <a:srgbClr val="C00000"/>
            </a:solidFill>
          </a:ln>
          <a:effectLst>
            <a:outerShdw blurRad="50800" dist="38100" dir="5400000" algn="t" rotWithShape="0">
              <a:prstClr val="black">
                <a:alpha val="40000"/>
              </a:prstClr>
            </a:outerShdw>
          </a:effectLst>
        </p:spPr>
      </p:pic>
      <p:sp>
        <p:nvSpPr>
          <p:cNvPr id="9" name="Rectangle: Rounded Corners 8">
            <a:extLst>
              <a:ext uri="{FF2B5EF4-FFF2-40B4-BE49-F238E27FC236}">
                <a16:creationId xmlns:a16="http://schemas.microsoft.com/office/drawing/2014/main" id="{B2211CB2-C02C-4DDD-2C76-F5F0FAAF3389}"/>
              </a:ext>
            </a:extLst>
          </p:cNvPr>
          <p:cNvSpPr/>
          <p:nvPr/>
        </p:nvSpPr>
        <p:spPr>
          <a:xfrm>
            <a:off x="7337778" y="2325511"/>
            <a:ext cx="4301066" cy="12643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670" b="1" dirty="0">
                <a:solidFill>
                  <a:srgbClr val="FF0000"/>
                </a:solidFill>
              </a:rPr>
              <a:t>Global Drama on Top</a:t>
            </a:r>
          </a:p>
          <a:p>
            <a:pPr marL="285750" indent="-285750">
              <a:buFont typeface="Courier New" panose="02070309020205020404" pitchFamily="49" charset="0"/>
              <a:buChar char="o"/>
            </a:pPr>
            <a:r>
              <a:rPr lang="en-IN" sz="1600" b="1" dirty="0"/>
              <a:t>International Movies and Dramas lead by a huge margin, proving Netflix relies heavily on story-based content.</a:t>
            </a:r>
          </a:p>
        </p:txBody>
      </p:sp>
      <p:sp>
        <p:nvSpPr>
          <p:cNvPr id="11" name="Rectangle: Rounded Corners 10">
            <a:extLst>
              <a:ext uri="{FF2B5EF4-FFF2-40B4-BE49-F238E27FC236}">
                <a16:creationId xmlns:a16="http://schemas.microsoft.com/office/drawing/2014/main" id="{AA9E7DD6-4106-09A8-E7F0-2D92BB8175D8}"/>
              </a:ext>
            </a:extLst>
          </p:cNvPr>
          <p:cNvSpPr/>
          <p:nvPr/>
        </p:nvSpPr>
        <p:spPr>
          <a:xfrm>
            <a:off x="7360356" y="4278490"/>
            <a:ext cx="4301066" cy="12643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600" b="1" dirty="0">
                <a:solidFill>
                  <a:srgbClr val="FF0000"/>
                </a:solidFill>
              </a:rPr>
              <a:t>Comedy &amp; Documentaries Follow</a:t>
            </a:r>
          </a:p>
          <a:p>
            <a:pPr marL="285750" indent="-285750">
              <a:buClr>
                <a:schemeClr val="tx1"/>
              </a:buClr>
              <a:buFont typeface="Courier New" panose="02070309020205020404" pitchFamily="49" charset="0"/>
              <a:buChar char="o"/>
            </a:pPr>
            <a:r>
              <a:rPr lang="en-IN" sz="1600" b="1" dirty="0">
                <a:solidFill>
                  <a:srgbClr val="FF0000"/>
                </a:solidFill>
              </a:rPr>
              <a:t> </a:t>
            </a:r>
            <a:r>
              <a:rPr lang="en-IN" sz="1600" b="1" dirty="0"/>
              <a:t>Comedies and Documentaries hold strong numbers to offer broad entertainment variety.</a:t>
            </a:r>
          </a:p>
        </p:txBody>
      </p:sp>
      <p:pic>
        <p:nvPicPr>
          <p:cNvPr id="13" name="Picture 12" descr="image.png">
            <a:extLst>
              <a:ext uri="{FF2B5EF4-FFF2-40B4-BE49-F238E27FC236}">
                <a16:creationId xmlns:a16="http://schemas.microsoft.com/office/drawing/2014/main" id="{DDCBD083-D73D-F658-FA23-64E0517FB706}"/>
              </a:ext>
            </a:extLst>
          </p:cNvPr>
          <p:cNvPicPr>
            <a:picLocks noChangeAspect="1"/>
          </p:cNvPicPr>
          <p:nvPr/>
        </p:nvPicPr>
        <p:blipFill>
          <a:blip r:embed="rId4"/>
          <a:stretch>
            <a:fillRect/>
          </a:stretch>
        </p:blipFill>
        <p:spPr>
          <a:xfrm>
            <a:off x="7724853" y="1688986"/>
            <a:ext cx="271258" cy="312974"/>
          </a:xfrm>
          <a:prstGeom prst="rect">
            <a:avLst/>
          </a:prstGeom>
        </p:spPr>
      </p:pic>
      <p:sp>
        <p:nvSpPr>
          <p:cNvPr id="15" name="TextBox 14">
            <a:extLst>
              <a:ext uri="{FF2B5EF4-FFF2-40B4-BE49-F238E27FC236}">
                <a16:creationId xmlns:a16="http://schemas.microsoft.com/office/drawing/2014/main" id="{D90D96CD-03B0-2354-7DB4-40C255C18461}"/>
              </a:ext>
            </a:extLst>
          </p:cNvPr>
          <p:cNvSpPr txBox="1"/>
          <p:nvPr/>
        </p:nvSpPr>
        <p:spPr>
          <a:xfrm>
            <a:off x="8159987" y="1724961"/>
            <a:ext cx="2521182" cy="276999"/>
          </a:xfrm>
          <a:prstGeom prst="rect">
            <a:avLst/>
          </a:prstGeom>
          <a:noFill/>
        </p:spPr>
        <p:txBody>
          <a:bodyPr wrap="square" lIns="0" tIns="0" rIns="0" bIns="0" anchor="ctr">
            <a:spAutoFit/>
          </a:bodyPr>
          <a:lstStyle/>
          <a:p>
            <a:pPr algn="l"/>
            <a:r>
              <a:rPr b="1" i="0" u="none" dirty="0">
                <a:latin typeface="Plus Jakarta Sans ExtraBold"/>
              </a:rPr>
              <a:t>KEY BUSINESS INSIGHTS</a:t>
            </a:r>
          </a:p>
        </p:txBody>
      </p:sp>
    </p:spTree>
    <p:extLst>
      <p:ext uri="{BB962C8B-B14F-4D97-AF65-F5344CB8AC3E}">
        <p14:creationId xmlns:p14="http://schemas.microsoft.com/office/powerpoint/2010/main" val="954512680"/>
      </p:ext>
    </p:extLst>
  </p:cSld>
  <p:clrMapOvr>
    <a:masterClrMapping/>
  </p:clrMapOvr>
  <p:transition>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tGPT Image Aug 30, 2026, 02_14_51 AM.png">
            <a:extLst>
              <a:ext uri="{FF2B5EF4-FFF2-40B4-BE49-F238E27FC236}">
                <a16:creationId xmlns:a16="http://schemas.microsoft.com/office/drawing/2014/main" id="{1D07E351-EF8E-58FD-BFA5-3EE9DB0374B8}"/>
              </a:ext>
            </a:extLst>
          </p:cNvPr>
          <p:cNvPicPr>
            <a:picLocks noChangeAspect="1"/>
          </p:cNvPicPr>
          <p:nvPr/>
        </p:nvPicPr>
        <p:blipFill>
          <a:blip r:embed="rId2"/>
          <a:stretch>
            <a:fillRect/>
          </a:stretch>
        </p:blipFill>
        <p:spPr>
          <a:xfrm>
            <a:off x="0" y="0"/>
            <a:ext cx="12191999" cy="6858000"/>
          </a:xfrm>
          <a:prstGeom prst="rect">
            <a:avLst/>
          </a:prstGeom>
        </p:spPr>
      </p:pic>
      <p:sp>
        <p:nvSpPr>
          <p:cNvPr id="5" name="TextBox 4">
            <a:extLst>
              <a:ext uri="{FF2B5EF4-FFF2-40B4-BE49-F238E27FC236}">
                <a16:creationId xmlns:a16="http://schemas.microsoft.com/office/drawing/2014/main" id="{F8AA4C6C-9748-EC2C-DFBA-69BD9A4CF350}"/>
              </a:ext>
            </a:extLst>
          </p:cNvPr>
          <p:cNvSpPr txBox="1"/>
          <p:nvPr/>
        </p:nvSpPr>
        <p:spPr>
          <a:xfrm>
            <a:off x="632176" y="536813"/>
            <a:ext cx="7450668" cy="461665"/>
          </a:xfrm>
          <a:prstGeom prst="rect">
            <a:avLst/>
          </a:prstGeom>
          <a:noFill/>
        </p:spPr>
        <p:txBody>
          <a:bodyPr wrap="square">
            <a:spAutoFit/>
          </a:bodyPr>
          <a:lstStyle/>
          <a:p>
            <a:r>
              <a:rPr lang="en-US" sz="2400" b="1" dirty="0">
                <a:latin typeface="Plus Jakarta Sans ExtraBold"/>
              </a:rPr>
              <a:t>Top 10 Highest Duration of Shows : Movies vs Tv Shows</a:t>
            </a:r>
            <a:endParaRPr lang="en-IN" sz="2400" b="1" dirty="0">
              <a:latin typeface="Plus Jakarta Sans ExtraBold"/>
            </a:endParaRPr>
          </a:p>
        </p:txBody>
      </p:sp>
      <p:pic>
        <p:nvPicPr>
          <p:cNvPr id="7" name="Picture 6">
            <a:extLst>
              <a:ext uri="{FF2B5EF4-FFF2-40B4-BE49-F238E27FC236}">
                <a16:creationId xmlns:a16="http://schemas.microsoft.com/office/drawing/2014/main" id="{B1786C80-074D-E5CB-20F1-2CC7DA0B1FBE}"/>
              </a:ext>
            </a:extLst>
          </p:cNvPr>
          <p:cNvPicPr>
            <a:picLocks noChangeAspect="1"/>
          </p:cNvPicPr>
          <p:nvPr/>
        </p:nvPicPr>
        <p:blipFill>
          <a:blip r:embed="rId3"/>
          <a:stretch>
            <a:fillRect/>
          </a:stretch>
        </p:blipFill>
        <p:spPr>
          <a:xfrm>
            <a:off x="417687" y="1177262"/>
            <a:ext cx="6277851" cy="2558110"/>
          </a:xfrm>
          <a:prstGeom prst="rect">
            <a:avLst/>
          </a:prstGeom>
          <a:ln>
            <a:solidFill>
              <a:srgbClr val="C00000"/>
            </a:solidFill>
          </a:ln>
          <a:effectLst>
            <a:outerShdw blurRad="50800" dist="38100" dir="5400000" algn="t" rotWithShape="0">
              <a:prstClr val="black">
                <a:alpha val="40000"/>
              </a:prstClr>
            </a:outerShdw>
          </a:effectLst>
        </p:spPr>
      </p:pic>
      <p:pic>
        <p:nvPicPr>
          <p:cNvPr id="11" name="Picture 10">
            <a:extLst>
              <a:ext uri="{FF2B5EF4-FFF2-40B4-BE49-F238E27FC236}">
                <a16:creationId xmlns:a16="http://schemas.microsoft.com/office/drawing/2014/main" id="{9805D7CD-A057-BC22-A04F-F00DD6FBBDB7}"/>
              </a:ext>
            </a:extLst>
          </p:cNvPr>
          <p:cNvPicPr>
            <a:picLocks noChangeAspect="1"/>
          </p:cNvPicPr>
          <p:nvPr/>
        </p:nvPicPr>
        <p:blipFill>
          <a:blip r:embed="rId4"/>
          <a:stretch>
            <a:fillRect/>
          </a:stretch>
        </p:blipFill>
        <p:spPr>
          <a:xfrm>
            <a:off x="417686" y="3914156"/>
            <a:ext cx="6277851" cy="2699884"/>
          </a:xfrm>
          <a:prstGeom prst="rect">
            <a:avLst/>
          </a:prstGeom>
          <a:ln>
            <a:solidFill>
              <a:srgbClr val="C00000"/>
            </a:solidFill>
          </a:ln>
          <a:effectLst>
            <a:outerShdw blurRad="50800" dist="38100" dir="5400000" algn="t" rotWithShape="0">
              <a:prstClr val="black">
                <a:alpha val="40000"/>
              </a:prstClr>
            </a:outerShdw>
          </a:effectLst>
        </p:spPr>
      </p:pic>
      <p:sp>
        <p:nvSpPr>
          <p:cNvPr id="13" name="Rectangle: Rounded Corners 12">
            <a:extLst>
              <a:ext uri="{FF2B5EF4-FFF2-40B4-BE49-F238E27FC236}">
                <a16:creationId xmlns:a16="http://schemas.microsoft.com/office/drawing/2014/main" id="{C2631E9C-54E8-16C8-8BC2-F9728373F635}"/>
              </a:ext>
            </a:extLst>
          </p:cNvPr>
          <p:cNvSpPr/>
          <p:nvPr/>
        </p:nvSpPr>
        <p:spPr>
          <a:xfrm>
            <a:off x="7405513" y="1863929"/>
            <a:ext cx="4368800" cy="155786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670" b="1" dirty="0">
                <a:solidFill>
                  <a:srgbClr val="FF0000"/>
                </a:solidFill>
              </a:rPr>
              <a:t>Standard 90-Minute Window</a:t>
            </a:r>
            <a:endParaRPr lang="en-IN" sz="1600" b="1" dirty="0">
              <a:solidFill>
                <a:srgbClr val="FF0000"/>
              </a:solidFill>
            </a:endParaRPr>
          </a:p>
          <a:p>
            <a:pPr marL="285750" indent="-285750">
              <a:buFont typeface="Courier New" panose="02070309020205020404" pitchFamily="49" charset="0"/>
              <a:buChar char="o"/>
            </a:pPr>
            <a:r>
              <a:rPr lang="en-IN" sz="1600" b="1" dirty="0"/>
              <a:t>The vast majority of movies cluster tightly between 88 to 98 minutes, with 90 minutes (136 titles) and 93 minutes (131 titles) being the most common lengths for casual viewing</a:t>
            </a:r>
            <a:r>
              <a:rPr lang="en-IN" sz="1600" dirty="0"/>
              <a:t>.</a:t>
            </a:r>
            <a:endParaRPr lang="en-IN" sz="1500" dirty="0"/>
          </a:p>
        </p:txBody>
      </p:sp>
      <p:sp>
        <p:nvSpPr>
          <p:cNvPr id="15" name="Rectangle: Rounded Corners 14">
            <a:extLst>
              <a:ext uri="{FF2B5EF4-FFF2-40B4-BE49-F238E27FC236}">
                <a16:creationId xmlns:a16="http://schemas.microsoft.com/office/drawing/2014/main" id="{A5936B11-AC40-EAF4-D376-84052B0B7DA3}"/>
              </a:ext>
            </a:extLst>
          </p:cNvPr>
          <p:cNvSpPr/>
          <p:nvPr/>
        </p:nvSpPr>
        <p:spPr>
          <a:xfrm>
            <a:off x="7259368" y="4496094"/>
            <a:ext cx="4368800" cy="155786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670" b="1" dirty="0">
                <a:solidFill>
                  <a:srgbClr val="FF0000"/>
                </a:solidFill>
              </a:rPr>
              <a:t>Heavy Reliance on 1-Season Shows</a:t>
            </a:r>
          </a:p>
          <a:p>
            <a:pPr marL="285750" indent="-285750">
              <a:buFont typeface="Courier New" panose="02070309020205020404" pitchFamily="49" charset="0"/>
              <a:buChar char="o"/>
            </a:pPr>
            <a:r>
              <a:rPr lang="en-IN" sz="1600" dirty="0"/>
              <a:t> </a:t>
            </a:r>
            <a:r>
              <a:rPr lang="en-IN" sz="1600" b="1" dirty="0"/>
              <a:t>Single-season titles (1,606 shows) massively dominate the platform, while only a small fraction of series successfully cross 3 or more seasons.</a:t>
            </a:r>
            <a:endParaRPr lang="en-IN" sz="1500" b="1" dirty="0"/>
          </a:p>
        </p:txBody>
      </p:sp>
      <p:pic>
        <p:nvPicPr>
          <p:cNvPr id="17" name="Picture 16" descr="image.png">
            <a:extLst>
              <a:ext uri="{FF2B5EF4-FFF2-40B4-BE49-F238E27FC236}">
                <a16:creationId xmlns:a16="http://schemas.microsoft.com/office/drawing/2014/main" id="{B9F7A3D0-55A1-F8B0-BCC0-9331BE38D14F}"/>
              </a:ext>
            </a:extLst>
          </p:cNvPr>
          <p:cNvPicPr>
            <a:picLocks noChangeAspect="1"/>
          </p:cNvPicPr>
          <p:nvPr/>
        </p:nvPicPr>
        <p:blipFill>
          <a:blip r:embed="rId5"/>
          <a:stretch>
            <a:fillRect/>
          </a:stretch>
        </p:blipFill>
        <p:spPr>
          <a:xfrm>
            <a:off x="7736142" y="1184835"/>
            <a:ext cx="271258" cy="312974"/>
          </a:xfrm>
          <a:prstGeom prst="rect">
            <a:avLst/>
          </a:prstGeom>
        </p:spPr>
      </p:pic>
      <p:sp>
        <p:nvSpPr>
          <p:cNvPr id="19" name="TextBox 18">
            <a:extLst>
              <a:ext uri="{FF2B5EF4-FFF2-40B4-BE49-F238E27FC236}">
                <a16:creationId xmlns:a16="http://schemas.microsoft.com/office/drawing/2014/main" id="{656EAD2E-981F-0EB7-9966-B8A6D860E13A}"/>
              </a:ext>
            </a:extLst>
          </p:cNvPr>
          <p:cNvSpPr txBox="1"/>
          <p:nvPr/>
        </p:nvSpPr>
        <p:spPr>
          <a:xfrm>
            <a:off x="8193853" y="1220810"/>
            <a:ext cx="2521182" cy="276999"/>
          </a:xfrm>
          <a:prstGeom prst="rect">
            <a:avLst/>
          </a:prstGeom>
          <a:noFill/>
        </p:spPr>
        <p:txBody>
          <a:bodyPr wrap="square" lIns="0" tIns="0" rIns="0" bIns="0" anchor="ctr">
            <a:spAutoFit/>
          </a:bodyPr>
          <a:lstStyle/>
          <a:p>
            <a:pPr algn="l"/>
            <a:r>
              <a:rPr b="1" i="0" u="none" dirty="0">
                <a:latin typeface="Plus Jakarta Sans ExtraBold"/>
              </a:rPr>
              <a:t>KEY BUSINESS INSIGHTS</a:t>
            </a:r>
          </a:p>
        </p:txBody>
      </p:sp>
    </p:spTree>
    <p:extLst>
      <p:ext uri="{BB962C8B-B14F-4D97-AF65-F5344CB8AC3E}">
        <p14:creationId xmlns:p14="http://schemas.microsoft.com/office/powerpoint/2010/main" val="3788426444"/>
      </p:ext>
    </p:extLst>
  </p:cSld>
  <p:clrMapOvr>
    <a:masterClrMapping/>
  </p:clrMapOvr>
  <p:transition>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tGPT Image Aug 30, 2026, 02_14_51 AM.png">
            <a:extLst>
              <a:ext uri="{FF2B5EF4-FFF2-40B4-BE49-F238E27FC236}">
                <a16:creationId xmlns:a16="http://schemas.microsoft.com/office/drawing/2014/main" id="{5106D4BE-1A3A-743E-5531-455D57ED3CEE}"/>
              </a:ext>
            </a:extLst>
          </p:cNvPr>
          <p:cNvPicPr>
            <a:picLocks noChangeAspect="1"/>
          </p:cNvPicPr>
          <p:nvPr/>
        </p:nvPicPr>
        <p:blipFill>
          <a:blip r:embed="rId2"/>
          <a:stretch>
            <a:fillRect/>
          </a:stretch>
        </p:blipFill>
        <p:spPr>
          <a:xfrm>
            <a:off x="0" y="0"/>
            <a:ext cx="12191999" cy="6858000"/>
          </a:xfrm>
          <a:prstGeom prst="rect">
            <a:avLst/>
          </a:prstGeom>
        </p:spPr>
      </p:pic>
      <p:pic>
        <p:nvPicPr>
          <p:cNvPr id="5" name="Picture 4">
            <a:extLst>
              <a:ext uri="{FF2B5EF4-FFF2-40B4-BE49-F238E27FC236}">
                <a16:creationId xmlns:a16="http://schemas.microsoft.com/office/drawing/2014/main" id="{A35ECBD5-15A1-B19D-C395-13610D529036}"/>
              </a:ext>
            </a:extLst>
          </p:cNvPr>
          <p:cNvPicPr>
            <a:picLocks noChangeAspect="1"/>
          </p:cNvPicPr>
          <p:nvPr/>
        </p:nvPicPr>
        <p:blipFill>
          <a:blip r:embed="rId3"/>
          <a:stretch>
            <a:fillRect/>
          </a:stretch>
        </p:blipFill>
        <p:spPr>
          <a:xfrm>
            <a:off x="285846" y="936776"/>
            <a:ext cx="6950332" cy="2788356"/>
          </a:xfrm>
          <a:prstGeom prst="rect">
            <a:avLst/>
          </a:prstGeom>
          <a:ln>
            <a:solidFill>
              <a:srgbClr val="C00000"/>
            </a:solidFill>
          </a:ln>
          <a:effectLst>
            <a:outerShdw blurRad="50800" dist="38100" dir="5400000" algn="t" rotWithShape="0">
              <a:prstClr val="black">
                <a:alpha val="40000"/>
              </a:prstClr>
            </a:outerShdw>
          </a:effectLst>
        </p:spPr>
      </p:pic>
      <p:pic>
        <p:nvPicPr>
          <p:cNvPr id="7" name="Picture 6">
            <a:extLst>
              <a:ext uri="{FF2B5EF4-FFF2-40B4-BE49-F238E27FC236}">
                <a16:creationId xmlns:a16="http://schemas.microsoft.com/office/drawing/2014/main" id="{D604722D-6288-3B4E-0FE3-E03AA6E82C34}"/>
              </a:ext>
            </a:extLst>
          </p:cNvPr>
          <p:cNvPicPr>
            <a:picLocks noChangeAspect="1"/>
          </p:cNvPicPr>
          <p:nvPr/>
        </p:nvPicPr>
        <p:blipFill>
          <a:blip r:embed="rId4"/>
          <a:stretch>
            <a:fillRect/>
          </a:stretch>
        </p:blipFill>
        <p:spPr>
          <a:xfrm>
            <a:off x="285846" y="3826934"/>
            <a:ext cx="6950332" cy="2889956"/>
          </a:xfrm>
          <a:prstGeom prst="rect">
            <a:avLst/>
          </a:prstGeom>
          <a:ln>
            <a:solidFill>
              <a:srgbClr val="C00000"/>
            </a:solidFill>
          </a:ln>
          <a:effectLst>
            <a:outerShdw blurRad="50800" dist="38100" dir="5400000" algn="t" rotWithShape="0">
              <a:prstClr val="black">
                <a:alpha val="40000"/>
              </a:prstClr>
            </a:outerShdw>
          </a:effectLst>
        </p:spPr>
      </p:pic>
      <p:sp>
        <p:nvSpPr>
          <p:cNvPr id="9" name="TextBox 8">
            <a:extLst>
              <a:ext uri="{FF2B5EF4-FFF2-40B4-BE49-F238E27FC236}">
                <a16:creationId xmlns:a16="http://schemas.microsoft.com/office/drawing/2014/main" id="{078471FD-BA6F-E9A8-8F78-EFA5D25B0A21}"/>
              </a:ext>
            </a:extLst>
          </p:cNvPr>
          <p:cNvSpPr txBox="1"/>
          <p:nvPr/>
        </p:nvSpPr>
        <p:spPr>
          <a:xfrm>
            <a:off x="469984" y="373309"/>
            <a:ext cx="7578994" cy="461665"/>
          </a:xfrm>
          <a:prstGeom prst="rect">
            <a:avLst/>
          </a:prstGeom>
          <a:noFill/>
        </p:spPr>
        <p:txBody>
          <a:bodyPr wrap="square">
            <a:spAutoFit/>
          </a:bodyPr>
          <a:lstStyle/>
          <a:p>
            <a:r>
              <a:rPr lang="en-IN" sz="2400" b="1" dirty="0">
                <a:latin typeface="Plus Jakarta Sans ExtraBold"/>
              </a:rPr>
              <a:t>Top Content Producing Countries: Movies vs. TV Shows</a:t>
            </a:r>
          </a:p>
        </p:txBody>
      </p:sp>
      <p:sp>
        <p:nvSpPr>
          <p:cNvPr id="11" name="Rectangle: Rounded Corners 10">
            <a:extLst>
              <a:ext uri="{FF2B5EF4-FFF2-40B4-BE49-F238E27FC236}">
                <a16:creationId xmlns:a16="http://schemas.microsoft.com/office/drawing/2014/main" id="{48218122-004E-06F4-FC4E-B50FDFF841F2}"/>
              </a:ext>
            </a:extLst>
          </p:cNvPr>
          <p:cNvSpPr/>
          <p:nvPr/>
        </p:nvSpPr>
        <p:spPr>
          <a:xfrm>
            <a:off x="7537354" y="1522333"/>
            <a:ext cx="4368800" cy="171591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600" b="1" dirty="0">
                <a:solidFill>
                  <a:srgbClr val="FF0000"/>
                </a:solidFill>
              </a:rPr>
              <a:t>US &amp; India Lead Film Catalog</a:t>
            </a:r>
            <a:r>
              <a:rPr lang="en-IN" sz="1500" b="1" dirty="0">
                <a:solidFill>
                  <a:srgbClr val="FF0000"/>
                </a:solidFill>
              </a:rPr>
              <a:t>ue </a:t>
            </a:r>
          </a:p>
          <a:p>
            <a:pPr marL="285750" indent="-285750">
              <a:buFont typeface="Courier New" panose="02070309020205020404" pitchFamily="49" charset="0"/>
              <a:buChar char="o"/>
            </a:pPr>
            <a:r>
              <a:rPr lang="en-IN" sz="1600" b="1" dirty="0"/>
              <a:t>The United States (1,847) and India (852) heavily dominate the movie library, while the UK (193) and Canada (118) provide smaller Western support alongside 229 unclassified titles.</a:t>
            </a:r>
          </a:p>
        </p:txBody>
      </p:sp>
      <p:sp>
        <p:nvSpPr>
          <p:cNvPr id="13" name="Rectangle: Rounded Corners 12">
            <a:extLst>
              <a:ext uri="{FF2B5EF4-FFF2-40B4-BE49-F238E27FC236}">
                <a16:creationId xmlns:a16="http://schemas.microsoft.com/office/drawing/2014/main" id="{AB86BB05-B628-BA3D-92AE-E6AC5D2BF907}"/>
              </a:ext>
            </a:extLst>
          </p:cNvPr>
          <p:cNvSpPr/>
          <p:nvPr/>
        </p:nvSpPr>
        <p:spPr>
          <a:xfrm>
            <a:off x="7522024" y="4470400"/>
            <a:ext cx="4368800" cy="171591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670" b="1" dirty="0">
                <a:solidFill>
                  <a:srgbClr val="FF0000"/>
                </a:solidFill>
              </a:rPr>
              <a:t>US on Top with East Asian Presence </a:t>
            </a:r>
          </a:p>
          <a:p>
            <a:pPr marL="285750" indent="-285750">
              <a:buFont typeface="Courier New" panose="02070309020205020404" pitchFamily="49" charset="0"/>
              <a:buChar char="o"/>
            </a:pPr>
            <a:r>
              <a:rPr lang="en-IN" sz="1600" b="1" dirty="0"/>
              <a:t>The United States (699) and the UK (203) lead Western series, while Japan (155) and South Korea (147) secure strong global representation alongside 276 unclassified titles.</a:t>
            </a:r>
          </a:p>
        </p:txBody>
      </p:sp>
      <p:pic>
        <p:nvPicPr>
          <p:cNvPr id="15" name="Picture 14" descr="image.png">
            <a:extLst>
              <a:ext uri="{FF2B5EF4-FFF2-40B4-BE49-F238E27FC236}">
                <a16:creationId xmlns:a16="http://schemas.microsoft.com/office/drawing/2014/main" id="{A31D8643-AE04-23BC-A78B-4D594853F2CD}"/>
              </a:ext>
            </a:extLst>
          </p:cNvPr>
          <p:cNvPicPr>
            <a:picLocks noChangeAspect="1"/>
          </p:cNvPicPr>
          <p:nvPr/>
        </p:nvPicPr>
        <p:blipFill>
          <a:blip r:embed="rId5"/>
          <a:stretch>
            <a:fillRect/>
          </a:stretch>
        </p:blipFill>
        <p:spPr>
          <a:xfrm>
            <a:off x="8048978" y="953910"/>
            <a:ext cx="271258" cy="312974"/>
          </a:xfrm>
          <a:prstGeom prst="rect">
            <a:avLst/>
          </a:prstGeom>
        </p:spPr>
      </p:pic>
      <p:sp>
        <p:nvSpPr>
          <p:cNvPr id="17" name="TextBox 16">
            <a:extLst>
              <a:ext uri="{FF2B5EF4-FFF2-40B4-BE49-F238E27FC236}">
                <a16:creationId xmlns:a16="http://schemas.microsoft.com/office/drawing/2014/main" id="{E5EB184B-760F-5712-200A-3C5D56E21E2D}"/>
              </a:ext>
            </a:extLst>
          </p:cNvPr>
          <p:cNvSpPr txBox="1"/>
          <p:nvPr/>
        </p:nvSpPr>
        <p:spPr>
          <a:xfrm>
            <a:off x="8560814" y="1004216"/>
            <a:ext cx="2521182" cy="276999"/>
          </a:xfrm>
          <a:prstGeom prst="rect">
            <a:avLst/>
          </a:prstGeom>
          <a:noFill/>
        </p:spPr>
        <p:txBody>
          <a:bodyPr wrap="square" lIns="0" tIns="0" rIns="0" bIns="0" anchor="ctr">
            <a:spAutoFit/>
          </a:bodyPr>
          <a:lstStyle/>
          <a:p>
            <a:pPr algn="l"/>
            <a:r>
              <a:rPr b="1" i="0" u="none" dirty="0">
                <a:latin typeface="Plus Jakarta Sans ExtraBold"/>
              </a:rPr>
              <a:t>KEY BUSINESS INSIGHTS</a:t>
            </a:r>
          </a:p>
        </p:txBody>
      </p:sp>
    </p:spTree>
    <p:extLst>
      <p:ext uri="{BB962C8B-B14F-4D97-AF65-F5344CB8AC3E}">
        <p14:creationId xmlns:p14="http://schemas.microsoft.com/office/powerpoint/2010/main" val="3249247428"/>
      </p:ext>
    </p:extLst>
  </p:cSld>
  <p:clrMapOvr>
    <a:masterClrMapping/>
  </p:clrMapOvr>
  <p:transition>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tGPT Image Aug 30, 2026, 02_14_51 AM.png">
            <a:extLst>
              <a:ext uri="{FF2B5EF4-FFF2-40B4-BE49-F238E27FC236}">
                <a16:creationId xmlns:a16="http://schemas.microsoft.com/office/drawing/2014/main" id="{B22FD487-799D-CB6F-21D5-59E95CB332ED}"/>
              </a:ext>
            </a:extLst>
          </p:cNvPr>
          <p:cNvPicPr>
            <a:picLocks noChangeAspect="1"/>
          </p:cNvPicPr>
          <p:nvPr/>
        </p:nvPicPr>
        <p:blipFill>
          <a:blip r:embed="rId2"/>
          <a:stretch>
            <a:fillRect/>
          </a:stretch>
        </p:blipFill>
        <p:spPr>
          <a:xfrm>
            <a:off x="0" y="0"/>
            <a:ext cx="12191999" cy="6858000"/>
          </a:xfrm>
          <a:prstGeom prst="rect">
            <a:avLst/>
          </a:prstGeom>
        </p:spPr>
      </p:pic>
      <p:sp>
        <p:nvSpPr>
          <p:cNvPr id="5" name="TextBox 4">
            <a:extLst>
              <a:ext uri="{FF2B5EF4-FFF2-40B4-BE49-F238E27FC236}">
                <a16:creationId xmlns:a16="http://schemas.microsoft.com/office/drawing/2014/main" id="{A10757BF-96D1-67CA-206C-2C2901127D9D}"/>
              </a:ext>
            </a:extLst>
          </p:cNvPr>
          <p:cNvSpPr txBox="1"/>
          <p:nvPr/>
        </p:nvSpPr>
        <p:spPr>
          <a:xfrm>
            <a:off x="4351867" y="731627"/>
            <a:ext cx="2889955" cy="646331"/>
          </a:xfrm>
          <a:prstGeom prst="rect">
            <a:avLst/>
          </a:prstGeom>
          <a:noFill/>
        </p:spPr>
        <p:txBody>
          <a:bodyPr wrap="square">
            <a:spAutoFit/>
          </a:bodyPr>
          <a:lstStyle/>
          <a:p>
            <a:r>
              <a:rPr lang="en-IN" sz="3600" b="1" dirty="0"/>
              <a:t>CONCL</a:t>
            </a:r>
            <a:r>
              <a:rPr lang="en-IN" sz="3600" b="1" dirty="0">
                <a:solidFill>
                  <a:srgbClr val="FF0000"/>
                </a:solidFill>
              </a:rPr>
              <a:t>USION</a:t>
            </a:r>
          </a:p>
        </p:txBody>
      </p:sp>
      <p:sp>
        <p:nvSpPr>
          <p:cNvPr id="8" name="Rectangle: Rounded Corners 7">
            <a:extLst>
              <a:ext uri="{FF2B5EF4-FFF2-40B4-BE49-F238E27FC236}">
                <a16:creationId xmlns:a16="http://schemas.microsoft.com/office/drawing/2014/main" id="{77E6FE52-5E60-7BD6-73FF-710FE6BCB9FA}"/>
              </a:ext>
            </a:extLst>
          </p:cNvPr>
          <p:cNvSpPr/>
          <p:nvPr/>
        </p:nvSpPr>
        <p:spPr>
          <a:xfrm>
            <a:off x="1253067" y="1708161"/>
            <a:ext cx="9087556" cy="100471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285750" indent="-285750">
              <a:buClr>
                <a:schemeClr val="tx1"/>
              </a:buClr>
              <a:buFont typeface="Courier New" panose="02070309020205020404" pitchFamily="49" charset="0"/>
              <a:buChar char="o"/>
            </a:pPr>
            <a:r>
              <a:rPr lang="en-IN" b="1" dirty="0">
                <a:solidFill>
                  <a:srgbClr val="FF0000"/>
                </a:solidFill>
              </a:rPr>
              <a:t>More Movies than TV Shows: </a:t>
            </a:r>
            <a:r>
              <a:rPr lang="en-IN" b="1" dirty="0"/>
              <a:t>Movies make up nearly 70% of the entire library, with most films running around 90 minutes. TV shows, on the other hand, mostly stick to just 1 season.</a:t>
            </a:r>
          </a:p>
        </p:txBody>
      </p:sp>
      <p:sp>
        <p:nvSpPr>
          <p:cNvPr id="9" name="Rectangle: Rounded Corners 8">
            <a:extLst>
              <a:ext uri="{FF2B5EF4-FFF2-40B4-BE49-F238E27FC236}">
                <a16:creationId xmlns:a16="http://schemas.microsoft.com/office/drawing/2014/main" id="{A4050A7E-0F1D-486E-B843-BD5E8D9CC289}"/>
              </a:ext>
            </a:extLst>
          </p:cNvPr>
          <p:cNvSpPr/>
          <p:nvPr/>
        </p:nvSpPr>
        <p:spPr>
          <a:xfrm>
            <a:off x="1253067" y="2977444"/>
            <a:ext cx="9087556" cy="90311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285750" indent="-285750">
              <a:buClr>
                <a:schemeClr val="tx1"/>
              </a:buClr>
              <a:buFont typeface="Courier New" panose="02070309020205020404" pitchFamily="49" charset="0"/>
              <a:buChar char="o"/>
            </a:pPr>
            <a:r>
              <a:rPr lang="en-IN" b="1" dirty="0">
                <a:solidFill>
                  <a:srgbClr val="FF0000"/>
                </a:solidFill>
              </a:rPr>
              <a:t>Focus on Mature Viewers: </a:t>
            </a:r>
            <a:r>
              <a:rPr lang="en-IN" b="1" dirty="0"/>
              <a:t>Most titles fall under TV-MA and TV-14 ratings, showing that Netflix clearly targets teens and adult audiences rather than kids.</a:t>
            </a:r>
          </a:p>
        </p:txBody>
      </p:sp>
      <p:sp>
        <p:nvSpPr>
          <p:cNvPr id="10" name="Rectangle: Rounded Corners 9">
            <a:extLst>
              <a:ext uri="{FF2B5EF4-FFF2-40B4-BE49-F238E27FC236}">
                <a16:creationId xmlns:a16="http://schemas.microsoft.com/office/drawing/2014/main" id="{920279A6-BB9A-03CF-F906-D49037BB9171}"/>
              </a:ext>
            </a:extLst>
          </p:cNvPr>
          <p:cNvSpPr/>
          <p:nvPr/>
        </p:nvSpPr>
        <p:spPr>
          <a:xfrm>
            <a:off x="1253067" y="4145127"/>
            <a:ext cx="9087556" cy="81844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285750" indent="-285750">
              <a:buClr>
                <a:schemeClr val="tx1"/>
              </a:buClr>
              <a:buFont typeface="Courier New" panose="02070309020205020404" pitchFamily="49" charset="0"/>
              <a:buChar char="o"/>
            </a:pPr>
            <a:r>
              <a:rPr lang="en-IN" b="1" dirty="0">
                <a:solidFill>
                  <a:srgbClr val="FF0000"/>
                </a:solidFill>
              </a:rPr>
              <a:t>US &amp; India Lead the Library: </a:t>
            </a:r>
            <a:r>
              <a:rPr lang="en-IN" b="1" dirty="0"/>
              <a:t>The United States and India produce the highest volume of movies, while East Asian content (Anime and K-dramas) drives massive global TV viewing.</a:t>
            </a:r>
          </a:p>
        </p:txBody>
      </p:sp>
      <p:sp>
        <p:nvSpPr>
          <p:cNvPr id="11" name="Rectangle: Rounded Corners 10">
            <a:extLst>
              <a:ext uri="{FF2B5EF4-FFF2-40B4-BE49-F238E27FC236}">
                <a16:creationId xmlns:a16="http://schemas.microsoft.com/office/drawing/2014/main" id="{6F4E8650-07FB-37B3-4471-34612824C942}"/>
              </a:ext>
            </a:extLst>
          </p:cNvPr>
          <p:cNvSpPr/>
          <p:nvPr/>
        </p:nvSpPr>
        <p:spPr>
          <a:xfrm>
            <a:off x="1253067" y="5228144"/>
            <a:ext cx="9087556" cy="97648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285750" indent="-285750">
              <a:buClr>
                <a:schemeClr val="tx1"/>
              </a:buClr>
              <a:buFont typeface="Courier New" panose="02070309020205020404" pitchFamily="49" charset="0"/>
              <a:buChar char="o"/>
            </a:pPr>
            <a:r>
              <a:rPr lang="en-IN" b="1" dirty="0">
                <a:solidFill>
                  <a:srgbClr val="FF0000"/>
                </a:solidFill>
              </a:rPr>
              <a:t>Peak Growth Around 2019–2020: </a:t>
            </a:r>
            <a:r>
              <a:rPr lang="en-IN" b="1" dirty="0"/>
              <a:t>Content additions hit an all-time high between 2019 and 2020 before Netflix started focusing more on quality original shows over sheer quantity.</a:t>
            </a:r>
          </a:p>
        </p:txBody>
      </p:sp>
    </p:spTree>
    <p:extLst>
      <p:ext uri="{BB962C8B-B14F-4D97-AF65-F5344CB8AC3E}">
        <p14:creationId xmlns:p14="http://schemas.microsoft.com/office/powerpoint/2010/main" val="3338764772"/>
      </p:ext>
    </p:extLst>
  </p:cSld>
  <p:clrMapOvr>
    <a:masterClrMapping/>
  </p:clrMapOvr>
  <p:transition>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tGPT Image Aug 30, 2026, 02_14_51 AM.png">
            <a:extLst>
              <a:ext uri="{FF2B5EF4-FFF2-40B4-BE49-F238E27FC236}">
                <a16:creationId xmlns:a16="http://schemas.microsoft.com/office/drawing/2014/main" id="{428E1418-2AFE-0CE4-51AB-58BA06D798C2}"/>
              </a:ext>
            </a:extLst>
          </p:cNvPr>
          <p:cNvPicPr>
            <a:picLocks noChangeAspect="1"/>
          </p:cNvPicPr>
          <p:nvPr/>
        </p:nvPicPr>
        <p:blipFill>
          <a:blip r:embed="rId2"/>
          <a:stretch>
            <a:fillRect/>
          </a:stretch>
        </p:blipFill>
        <p:spPr>
          <a:xfrm>
            <a:off x="1" y="0"/>
            <a:ext cx="12191999" cy="6858000"/>
          </a:xfrm>
          <a:prstGeom prst="rect">
            <a:avLst/>
          </a:prstGeom>
        </p:spPr>
      </p:pic>
      <p:sp>
        <p:nvSpPr>
          <p:cNvPr id="6" name="TextBox 5">
            <a:extLst>
              <a:ext uri="{FF2B5EF4-FFF2-40B4-BE49-F238E27FC236}">
                <a16:creationId xmlns:a16="http://schemas.microsoft.com/office/drawing/2014/main" id="{A01C800E-75B2-4689-3932-E4B5AF9AD611}"/>
              </a:ext>
            </a:extLst>
          </p:cNvPr>
          <p:cNvSpPr txBox="1"/>
          <p:nvPr/>
        </p:nvSpPr>
        <p:spPr>
          <a:xfrm>
            <a:off x="2957689" y="2738524"/>
            <a:ext cx="6096000" cy="1200329"/>
          </a:xfrm>
          <a:prstGeom prst="rect">
            <a:avLst/>
          </a:prstGeom>
          <a:noFill/>
        </p:spPr>
        <p:txBody>
          <a:bodyPr wrap="square">
            <a:spAutoFit/>
          </a:bodyPr>
          <a:lstStyle/>
          <a:p>
            <a:pPr algn="ctr"/>
            <a:r>
              <a:rPr lang="en-IN" sz="7200" b="1" dirty="0"/>
              <a:t>THANK </a:t>
            </a:r>
            <a:r>
              <a:rPr lang="en-IN" sz="7200" b="1" dirty="0">
                <a:solidFill>
                  <a:srgbClr val="FF0000"/>
                </a:solidFill>
              </a:rPr>
              <a:t>YOU</a:t>
            </a:r>
          </a:p>
        </p:txBody>
      </p:sp>
    </p:spTree>
    <p:extLst>
      <p:ext uri="{BB962C8B-B14F-4D97-AF65-F5344CB8AC3E}">
        <p14:creationId xmlns:p14="http://schemas.microsoft.com/office/powerpoint/2010/main" val="1210016177"/>
      </p:ext>
    </p:extLst>
  </p:cSld>
  <p:clrMapOvr>
    <a:masterClrMapping/>
  </p:clrMapOvr>
  <p:transition>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434</TotalTime>
  <Words>963</Words>
  <Application>Microsoft Office PowerPoint</Application>
  <PresentationFormat>Widescreen</PresentationFormat>
  <Paragraphs>85</Paragraphs>
  <Slides>15</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Calibri Light</vt:lpstr>
      <vt:lpstr>Courier New</vt:lpstr>
      <vt:lpstr>Plus Jakarta Sans ExtraBold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SAMANWAY BANDYOPADHYAY</dc:creator>
  <cp:lastModifiedBy>SAMANWAY BANDYOPADHYAY</cp:lastModifiedBy>
  <cp:revision>41</cp:revision>
  <dcterms:created xsi:type="dcterms:W3CDTF">2026-08-27T21:19:41Z</dcterms:created>
  <dcterms:modified xsi:type="dcterms:W3CDTF">2026-08-30T18:00:20Z</dcterms:modified>
</cp:coreProperties>
</file>